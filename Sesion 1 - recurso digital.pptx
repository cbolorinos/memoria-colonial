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D47"/>
        </a:solidFill>
      </p:bgPr>
    </p:bg>
    <p:spTree>
      <p:nvGrpSpPr>
        <p:cNvPr id="1" name=""/>
        <p:cNvGrpSpPr/>
        <p:nvPr/>
      </p:nvGrpSpPr>
      <p:grpSpPr>
        <a:xfrm>
          <a:off x="0" y="0"/>
          <a:ext cx="0" cy="0"/>
          <a:chOff x="0" y="0"/>
          <a:chExt cx="0" cy="0"/>
        </a:xfrm>
      </p:grpSpPr>
      <p:pic>
        <p:nvPicPr>
          <p:cNvPr id="2" name="Image 0" descr="/tmp/assets/logo_gold.png">    </p:cNvPr>
          <p:cNvPicPr>
            <a:picLocks noChangeAspect="1"/>
          </p:cNvPicPr>
          <p:nvPr/>
        </p:nvPicPr>
        <p:blipFill>
          <a:blip r:embed="rId1"/>
          <a:stretch>
            <a:fillRect/>
          </a:stretch>
        </p:blipFill>
        <p:spPr>
          <a:xfrm>
            <a:off x="640080" y="566928"/>
            <a:ext cx="640080" cy="640080"/>
          </a:xfrm>
          <a:prstGeom prst="rect">
            <a:avLst/>
          </a:prstGeom>
        </p:spPr>
      </p:pic>
      <p:sp>
        <p:nvSpPr>
          <p:cNvPr id="3" name="Shape 0"/>
          <p:cNvSpPr/>
          <p:nvPr/>
        </p:nvSpPr>
        <p:spPr>
          <a:xfrm>
            <a:off x="658368" y="2135124"/>
            <a:ext cx="292608" cy="20117"/>
          </a:xfrm>
          <a:prstGeom prst="rect">
            <a:avLst/>
          </a:prstGeom>
          <a:solidFill>
            <a:srgbClr val="B9917C"/>
          </a:solidFill>
          <a:ln/>
        </p:spPr>
      </p:sp>
      <p:sp>
        <p:nvSpPr>
          <p:cNvPr id="4" name="Text 1"/>
          <p:cNvSpPr/>
          <p:nvPr/>
        </p:nvSpPr>
        <p:spPr>
          <a:xfrm>
            <a:off x="1042416" y="2057400"/>
            <a:ext cx="7315200" cy="274320"/>
          </a:xfrm>
          <a:prstGeom prst="rect">
            <a:avLst/>
          </a:prstGeom>
          <a:noFill/>
          <a:ln/>
        </p:spPr>
        <p:txBody>
          <a:bodyPr wrap="square" lIns="0" tIns="0" rIns="0" bIns="0" rtlCol="0" anchor="t"/>
          <a:lstStyle/>
          <a:p>
            <a:pPr algn="l" indent="0" marL="0">
              <a:buNone/>
            </a:pPr>
            <a:r>
              <a:rPr lang="en-US" sz="1100" b="1" spc="300" kern="0" dirty="0">
                <a:solidFill>
                  <a:srgbClr val="B9917C"/>
                </a:solidFill>
                <a:latin typeface="Cairo" pitchFamily="34" charset="0"/>
                <a:ea typeface="Cairo" pitchFamily="34" charset="-122"/>
                <a:cs typeface="Cairo" pitchFamily="34" charset="-120"/>
              </a:rPr>
              <a:t>MEMORIA HISTÓRICA · SESIÓN 1</a:t>
            </a:r>
            <a:endParaRPr lang="en-US" sz="1100" dirty="0"/>
          </a:p>
        </p:txBody>
      </p:sp>
      <p:sp>
        <p:nvSpPr>
          <p:cNvPr id="5" name="Text 2"/>
          <p:cNvSpPr/>
          <p:nvPr/>
        </p:nvSpPr>
        <p:spPr>
          <a:xfrm>
            <a:off x="621792" y="2423160"/>
            <a:ext cx="6309360" cy="2377440"/>
          </a:xfrm>
          <a:prstGeom prst="rect">
            <a:avLst/>
          </a:prstGeom>
          <a:noFill/>
          <a:ln/>
        </p:spPr>
        <p:txBody>
          <a:bodyPr wrap="square" lIns="0" tIns="0" rIns="0" bIns="0" rtlCol="0" anchor="t"/>
          <a:lstStyle/>
          <a:p>
            <a:pPr algn="l" indent="0" marL="0">
              <a:lnSpc>
                <a:spcPts val="4000"/>
              </a:lnSpc>
              <a:buNone/>
            </a:pPr>
            <a:r>
              <a:rPr lang="en-US" sz="3500" b="1" dirty="0">
                <a:solidFill>
                  <a:srgbClr val="FDFAF7"/>
                </a:solidFill>
                <a:latin typeface="Cairo" pitchFamily="34" charset="0"/>
                <a:ea typeface="Cairo" pitchFamily="34" charset="-122"/>
                <a:cs typeface="Cairo" pitchFamily="34" charset="-120"/>
              </a:rPr>
              <a:t>El pasado colonial de España en el norte de África</a:t>
            </a:r>
            <a:endParaRPr lang="en-US" sz="3500" dirty="0"/>
          </a:p>
        </p:txBody>
      </p:sp>
      <p:sp>
        <p:nvSpPr>
          <p:cNvPr id="6" name="Text 3"/>
          <p:cNvSpPr/>
          <p:nvPr/>
        </p:nvSpPr>
        <p:spPr>
          <a:xfrm>
            <a:off x="658368" y="4709160"/>
            <a:ext cx="6126480" cy="640080"/>
          </a:xfrm>
          <a:prstGeom prst="rect">
            <a:avLst/>
          </a:prstGeom>
          <a:noFill/>
          <a:ln/>
        </p:spPr>
        <p:txBody>
          <a:bodyPr wrap="square" lIns="0" tIns="0" rIns="0" bIns="0" rtlCol="0" anchor="t"/>
          <a:lstStyle/>
          <a:p>
            <a:pPr algn="l" indent="0" marL="0">
              <a:buNone/>
            </a:pPr>
            <a:r>
              <a:rPr lang="en-US" sz="2000" i="1" dirty="0">
                <a:solidFill>
                  <a:srgbClr val="D4B09E"/>
                </a:solidFill>
                <a:latin typeface="Cairo" pitchFamily="34" charset="0"/>
                <a:ea typeface="Cairo" pitchFamily="34" charset="-122"/>
                <a:cs typeface="Cairo" pitchFamily="34" charset="-120"/>
              </a:rPr>
              <a:t>Una propuesta de memoria histórica</a:t>
            </a:r>
            <a:endParaRPr lang="en-US" sz="2000" dirty="0"/>
          </a:p>
        </p:txBody>
      </p:sp>
      <p:sp>
        <p:nvSpPr>
          <p:cNvPr id="7" name="Shape 4"/>
          <p:cNvSpPr/>
          <p:nvPr/>
        </p:nvSpPr>
        <p:spPr>
          <a:xfrm>
            <a:off x="7168896" y="996696"/>
            <a:ext cx="4498848" cy="4864608"/>
          </a:xfrm>
          <a:prstGeom prst="rect">
            <a:avLst/>
          </a:prstGeom>
          <a:solidFill>
            <a:srgbClr val="833C30"/>
          </a:solidFill>
          <a:ln/>
          <a:effectLst>
            <a:outerShdw sx="100000" sy="100000" kx="0" ky="0" algn="bl" rotWithShape="0" blurRad="114300" dist="50800" dir="5400000">
              <a:srgbClr val="1E3D47">
                <a:alpha val="28000"/>
              </a:srgbClr>
            </a:outerShdw>
          </a:effectLst>
        </p:spPr>
      </p:sp>
      <p:pic>
        <p:nvPicPr>
          <p:cNvPr id="8" name="Image 1" descr="/tmp/assets/desert_hero.jpg">    </p:cNvPr>
          <p:cNvPicPr>
            <a:picLocks noChangeAspect="1"/>
          </p:cNvPicPr>
          <p:nvPr/>
        </p:nvPicPr>
        <p:blipFill>
          <a:blip r:embed="rId2"/>
          <a:srcRect l="0" r="0" t="0" b="0"/>
          <a:stretch/>
        </p:blipFill>
        <p:spPr>
          <a:xfrm>
            <a:off x="7269480" y="1097280"/>
            <a:ext cx="4297680" cy="4663440"/>
          </a:xfrm>
          <a:prstGeom prst="rect">
            <a:avLst/>
          </a:prstGeom>
        </p:spPr>
      </p:pic>
      <p:sp>
        <p:nvSpPr>
          <p:cNvPr id="9" name="Text 5"/>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850" spc="200" kern="0" dirty="0">
                <a:solidFill>
                  <a:srgbClr val="B9917C"/>
                </a:solidFill>
                <a:latin typeface="Cairo" pitchFamily="34" charset="0"/>
                <a:ea typeface="Cairo" pitchFamily="34" charset="-122"/>
                <a:cs typeface="Cairo" pitchFamily="34" charset="-120"/>
              </a:rPr>
              <a:t>El pasado colonial de España en el norte de África</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0EB"/>
        </a:solidFill>
      </p:bgPr>
    </p:bg>
    <p:spTree>
      <p:nvGrpSpPr>
        <p:cNvPr id="1" name=""/>
        <p:cNvGrpSpPr/>
        <p:nvPr/>
      </p:nvGrpSpPr>
      <p:grpSpPr>
        <a:xfrm>
          <a:off x="0" y="0"/>
          <a:ext cx="0" cy="0"/>
          <a:chOff x="0" y="0"/>
          <a:chExt cx="0" cy="0"/>
        </a:xfrm>
      </p:grpSpPr>
      <p:sp>
        <p:nvSpPr>
          <p:cNvPr id="2" name="Shape 0"/>
          <p:cNvSpPr/>
          <p:nvPr/>
        </p:nvSpPr>
        <p:spPr>
          <a:xfrm>
            <a:off x="640080" y="644652"/>
            <a:ext cx="292608" cy="20117"/>
          </a:xfrm>
          <a:prstGeom prst="rect">
            <a:avLst/>
          </a:prstGeom>
          <a:solidFill>
            <a:srgbClr val="833C30"/>
          </a:solidFill>
          <a:ln/>
        </p:spPr>
      </p:sp>
      <p:sp>
        <p:nvSpPr>
          <p:cNvPr id="3" name="Text 1"/>
          <p:cNvSpPr/>
          <p:nvPr/>
        </p:nvSpPr>
        <p:spPr>
          <a:xfrm>
            <a:off x="1024128" y="566928"/>
            <a:ext cx="7315200" cy="274320"/>
          </a:xfrm>
          <a:prstGeom prst="rect">
            <a:avLst/>
          </a:prstGeom>
          <a:noFill/>
          <a:ln/>
        </p:spPr>
        <p:txBody>
          <a:bodyPr wrap="square" lIns="0" tIns="0" rIns="0" bIns="0" rtlCol="0" anchor="t"/>
          <a:lstStyle/>
          <a:p>
            <a:pPr algn="l" indent="0" marL="0">
              <a:buNone/>
            </a:pPr>
            <a:r>
              <a:rPr lang="en-US" sz="1100" b="1" spc="300" kern="0" dirty="0">
                <a:solidFill>
                  <a:srgbClr val="833C30"/>
                </a:solidFill>
                <a:latin typeface="Cairo" pitchFamily="34" charset="0"/>
                <a:ea typeface="Cairo" pitchFamily="34" charset="-122"/>
                <a:cs typeface="Cairo" pitchFamily="34" charset="-120"/>
              </a:rPr>
              <a:t>CRONOLOGÍA</a:t>
            </a:r>
            <a:endParaRPr lang="en-US" sz="1100" dirty="0"/>
          </a:p>
        </p:txBody>
      </p:sp>
      <p:sp>
        <p:nvSpPr>
          <p:cNvPr id="4" name="Text 2"/>
          <p:cNvSpPr/>
          <p:nvPr/>
        </p:nvSpPr>
        <p:spPr>
          <a:xfrm>
            <a:off x="603504" y="932688"/>
            <a:ext cx="10972800" cy="1005840"/>
          </a:xfrm>
          <a:prstGeom prst="rect">
            <a:avLst/>
          </a:prstGeom>
          <a:noFill/>
          <a:ln/>
        </p:spPr>
        <p:txBody>
          <a:bodyPr wrap="square" lIns="0" tIns="0" rIns="0" bIns="0" rtlCol="0" anchor="t"/>
          <a:lstStyle/>
          <a:p>
            <a:pPr algn="l" indent="0" marL="0">
              <a:lnSpc>
                <a:spcPts val="3200"/>
              </a:lnSpc>
              <a:buNone/>
            </a:pPr>
            <a:r>
              <a:rPr lang="en-US" sz="2900" b="1" dirty="0">
                <a:solidFill>
                  <a:srgbClr val="1E3D47"/>
                </a:solidFill>
                <a:latin typeface="Cairo" pitchFamily="34" charset="0"/>
                <a:ea typeface="Cairo" pitchFamily="34" charset="-122"/>
                <a:cs typeface="Cairo" pitchFamily="34" charset="-120"/>
              </a:rPr>
              <a:t>La colonización española de Marruecos</a:t>
            </a:r>
            <a:endParaRPr lang="en-US" sz="2900" dirty="0"/>
          </a:p>
        </p:txBody>
      </p:sp>
      <p:sp>
        <p:nvSpPr>
          <p:cNvPr id="5" name="Shape 3"/>
          <p:cNvSpPr/>
          <p:nvPr/>
        </p:nvSpPr>
        <p:spPr>
          <a:xfrm>
            <a:off x="640080" y="3643884"/>
            <a:ext cx="10908792" cy="27432"/>
          </a:xfrm>
          <a:prstGeom prst="rect">
            <a:avLst/>
          </a:prstGeom>
          <a:solidFill>
            <a:srgbClr val="B9917C"/>
          </a:solidFill>
          <a:ln/>
        </p:spPr>
      </p:sp>
      <p:sp>
        <p:nvSpPr>
          <p:cNvPr id="6" name="Shape 4"/>
          <p:cNvSpPr/>
          <p:nvPr/>
        </p:nvSpPr>
        <p:spPr>
          <a:xfrm>
            <a:off x="786384" y="3575304"/>
            <a:ext cx="164592" cy="164592"/>
          </a:xfrm>
          <a:prstGeom prst="oval">
            <a:avLst/>
          </a:prstGeom>
          <a:solidFill>
            <a:srgbClr val="833C30"/>
          </a:solidFill>
          <a:ln w="25400">
            <a:solidFill>
              <a:srgbClr val="F4F0EB"/>
            </a:solidFill>
            <a:prstDash val="solid"/>
          </a:ln>
        </p:spPr>
      </p:sp>
      <p:sp>
        <p:nvSpPr>
          <p:cNvPr id="7" name="Text 5"/>
          <p:cNvSpPr/>
          <p:nvPr/>
        </p:nvSpPr>
        <p:spPr>
          <a:xfrm>
            <a:off x="182880" y="3200400"/>
            <a:ext cx="1371600" cy="274320"/>
          </a:xfrm>
          <a:prstGeom prst="rect">
            <a:avLst/>
          </a:prstGeom>
          <a:noFill/>
          <a:ln/>
        </p:spPr>
        <p:txBody>
          <a:bodyPr wrap="square" lIns="0" tIns="0" rIns="0" bIns="0" rtlCol="0" anchor="ctr"/>
          <a:lstStyle/>
          <a:p>
            <a:pPr algn="ctr" indent="0" marL="0">
              <a:buNone/>
            </a:pPr>
            <a:r>
              <a:rPr lang="en-US" sz="1200" b="1" dirty="0">
                <a:solidFill>
                  <a:srgbClr val="833C30"/>
                </a:solidFill>
                <a:latin typeface="Cairo" pitchFamily="34" charset="0"/>
                <a:ea typeface="Cairo" pitchFamily="34" charset="-122"/>
                <a:cs typeface="Cairo" pitchFamily="34" charset="-120"/>
              </a:rPr>
              <a:t>1859–60</a:t>
            </a:r>
            <a:endParaRPr lang="en-US" sz="1200" dirty="0"/>
          </a:p>
        </p:txBody>
      </p:sp>
      <p:sp>
        <p:nvSpPr>
          <p:cNvPr id="8" name="Text 6"/>
          <p:cNvSpPr/>
          <p:nvPr/>
        </p:nvSpPr>
        <p:spPr>
          <a:xfrm>
            <a:off x="155448" y="1965960"/>
            <a:ext cx="1426464" cy="1234440"/>
          </a:xfrm>
          <a:prstGeom prst="rect">
            <a:avLst/>
          </a:prstGeom>
          <a:noFill/>
          <a:ln/>
        </p:spPr>
        <p:txBody>
          <a:bodyPr wrap="square" lIns="0" tIns="0" rIns="0" bIns="0" rtlCol="0" anchor="b"/>
          <a:lstStyle/>
          <a:p>
            <a:pPr algn="ctr" indent="0" marL="0">
              <a:lnSpc>
                <a:spcPts val="1100"/>
              </a:lnSpc>
              <a:buNone/>
            </a:pPr>
            <a:r>
              <a:rPr lang="en-US" sz="900" dirty="0">
                <a:solidFill>
                  <a:srgbClr val="2A5262"/>
                </a:solidFill>
                <a:latin typeface="Cairo" pitchFamily="34" charset="0"/>
                <a:ea typeface="Cairo" pitchFamily="34" charset="-122"/>
                <a:cs typeface="Cairo" pitchFamily="34" charset="-120"/>
              </a:rPr>
              <a:t>Guerra de África</a:t>
            </a:r>
            <a:endParaRPr lang="en-US" sz="900" dirty="0"/>
          </a:p>
        </p:txBody>
      </p:sp>
      <p:sp>
        <p:nvSpPr>
          <p:cNvPr id="9" name="Shape 7"/>
          <p:cNvSpPr/>
          <p:nvPr/>
        </p:nvSpPr>
        <p:spPr>
          <a:xfrm>
            <a:off x="2089404" y="3575304"/>
            <a:ext cx="164592" cy="164592"/>
          </a:xfrm>
          <a:prstGeom prst="oval">
            <a:avLst/>
          </a:prstGeom>
          <a:solidFill>
            <a:srgbClr val="833C30"/>
          </a:solidFill>
          <a:ln w="25400">
            <a:solidFill>
              <a:srgbClr val="F4F0EB"/>
            </a:solidFill>
            <a:prstDash val="solid"/>
          </a:ln>
        </p:spPr>
      </p:sp>
      <p:sp>
        <p:nvSpPr>
          <p:cNvPr id="10" name="Text 8"/>
          <p:cNvSpPr/>
          <p:nvPr/>
        </p:nvSpPr>
        <p:spPr>
          <a:xfrm>
            <a:off x="1485900" y="3822192"/>
            <a:ext cx="1371600" cy="274320"/>
          </a:xfrm>
          <a:prstGeom prst="rect">
            <a:avLst/>
          </a:prstGeom>
          <a:noFill/>
          <a:ln/>
        </p:spPr>
        <p:txBody>
          <a:bodyPr wrap="square" lIns="0" tIns="0" rIns="0" bIns="0" rtlCol="0" anchor="ctr"/>
          <a:lstStyle/>
          <a:p>
            <a:pPr algn="ctr" indent="0" marL="0">
              <a:buNone/>
            </a:pPr>
            <a:r>
              <a:rPr lang="en-US" sz="1200" b="1" dirty="0">
                <a:solidFill>
                  <a:srgbClr val="833C30"/>
                </a:solidFill>
                <a:latin typeface="Cairo" pitchFamily="34" charset="0"/>
                <a:ea typeface="Cairo" pitchFamily="34" charset="-122"/>
                <a:cs typeface="Cairo" pitchFamily="34" charset="-120"/>
              </a:rPr>
              <a:t>1893–94</a:t>
            </a:r>
            <a:endParaRPr lang="en-US" sz="1200" dirty="0"/>
          </a:p>
        </p:txBody>
      </p:sp>
      <p:sp>
        <p:nvSpPr>
          <p:cNvPr id="11" name="Text 9"/>
          <p:cNvSpPr/>
          <p:nvPr/>
        </p:nvSpPr>
        <p:spPr>
          <a:xfrm>
            <a:off x="1458468" y="4114800"/>
            <a:ext cx="1426464" cy="1234440"/>
          </a:xfrm>
          <a:prstGeom prst="rect">
            <a:avLst/>
          </a:prstGeom>
          <a:noFill/>
          <a:ln/>
        </p:spPr>
        <p:txBody>
          <a:bodyPr wrap="square" lIns="0" tIns="0" rIns="0" bIns="0" rtlCol="0" anchor="t"/>
          <a:lstStyle/>
          <a:p>
            <a:pPr algn="ctr" indent="0" marL="0">
              <a:lnSpc>
                <a:spcPts val="1100"/>
              </a:lnSpc>
              <a:buNone/>
            </a:pPr>
            <a:r>
              <a:rPr lang="en-US" sz="900" dirty="0">
                <a:solidFill>
                  <a:srgbClr val="2A5262"/>
                </a:solidFill>
                <a:latin typeface="Cairo" pitchFamily="34" charset="0"/>
                <a:ea typeface="Cairo" pitchFamily="34" charset="-122"/>
                <a:cs typeface="Cairo" pitchFamily="34" charset="-120"/>
              </a:rPr>
              <a:t>«Primera» Guerra del Rif</a:t>
            </a:r>
            <a:endParaRPr lang="en-US" sz="900" dirty="0"/>
          </a:p>
        </p:txBody>
      </p:sp>
      <p:sp>
        <p:nvSpPr>
          <p:cNvPr id="12" name="Shape 10"/>
          <p:cNvSpPr/>
          <p:nvPr/>
        </p:nvSpPr>
        <p:spPr>
          <a:xfrm>
            <a:off x="3392424" y="3575304"/>
            <a:ext cx="164592" cy="164592"/>
          </a:xfrm>
          <a:prstGeom prst="oval">
            <a:avLst/>
          </a:prstGeom>
          <a:solidFill>
            <a:srgbClr val="833C30"/>
          </a:solidFill>
          <a:ln w="25400">
            <a:solidFill>
              <a:srgbClr val="F4F0EB"/>
            </a:solidFill>
            <a:prstDash val="solid"/>
          </a:ln>
        </p:spPr>
      </p:sp>
      <p:sp>
        <p:nvSpPr>
          <p:cNvPr id="13" name="Text 11"/>
          <p:cNvSpPr/>
          <p:nvPr/>
        </p:nvSpPr>
        <p:spPr>
          <a:xfrm>
            <a:off x="2788920" y="3200400"/>
            <a:ext cx="1371600" cy="274320"/>
          </a:xfrm>
          <a:prstGeom prst="rect">
            <a:avLst/>
          </a:prstGeom>
          <a:noFill/>
          <a:ln/>
        </p:spPr>
        <p:txBody>
          <a:bodyPr wrap="square" lIns="0" tIns="0" rIns="0" bIns="0" rtlCol="0" anchor="ctr"/>
          <a:lstStyle/>
          <a:p>
            <a:pPr algn="ctr" indent="0" marL="0">
              <a:buNone/>
            </a:pPr>
            <a:r>
              <a:rPr lang="en-US" sz="1200" b="1" dirty="0">
                <a:solidFill>
                  <a:srgbClr val="833C30"/>
                </a:solidFill>
                <a:latin typeface="Cairo" pitchFamily="34" charset="0"/>
                <a:ea typeface="Cairo" pitchFamily="34" charset="-122"/>
                <a:cs typeface="Cairo" pitchFamily="34" charset="-120"/>
              </a:rPr>
              <a:t>1909</a:t>
            </a:r>
            <a:endParaRPr lang="en-US" sz="1200" dirty="0"/>
          </a:p>
        </p:txBody>
      </p:sp>
      <p:sp>
        <p:nvSpPr>
          <p:cNvPr id="14" name="Text 12"/>
          <p:cNvSpPr/>
          <p:nvPr/>
        </p:nvSpPr>
        <p:spPr>
          <a:xfrm>
            <a:off x="2761488" y="1965960"/>
            <a:ext cx="1426464" cy="1234440"/>
          </a:xfrm>
          <a:prstGeom prst="rect">
            <a:avLst/>
          </a:prstGeom>
          <a:noFill/>
          <a:ln/>
        </p:spPr>
        <p:txBody>
          <a:bodyPr wrap="square" lIns="0" tIns="0" rIns="0" bIns="0" rtlCol="0" anchor="b"/>
          <a:lstStyle/>
          <a:p>
            <a:pPr algn="ctr" indent="0" marL="0">
              <a:lnSpc>
                <a:spcPts val="1100"/>
              </a:lnSpc>
              <a:buNone/>
            </a:pPr>
            <a:r>
              <a:rPr lang="en-US" sz="900" dirty="0">
                <a:solidFill>
                  <a:srgbClr val="2A5262"/>
                </a:solidFill>
                <a:latin typeface="Cairo" pitchFamily="34" charset="0"/>
                <a:ea typeface="Cairo" pitchFamily="34" charset="-122"/>
                <a:cs typeface="Cairo" pitchFamily="34" charset="-120"/>
              </a:rPr>
              <a:t>Desastre del Barranco del Lobo</a:t>
            </a:r>
            <a:endParaRPr lang="en-US" sz="900" dirty="0"/>
          </a:p>
        </p:txBody>
      </p:sp>
      <p:sp>
        <p:nvSpPr>
          <p:cNvPr id="15" name="Shape 13"/>
          <p:cNvSpPr/>
          <p:nvPr/>
        </p:nvSpPr>
        <p:spPr>
          <a:xfrm>
            <a:off x="4695444" y="3575304"/>
            <a:ext cx="164592" cy="164592"/>
          </a:xfrm>
          <a:prstGeom prst="oval">
            <a:avLst/>
          </a:prstGeom>
          <a:solidFill>
            <a:srgbClr val="833C30"/>
          </a:solidFill>
          <a:ln w="25400">
            <a:solidFill>
              <a:srgbClr val="F4F0EB"/>
            </a:solidFill>
            <a:prstDash val="solid"/>
          </a:ln>
        </p:spPr>
      </p:sp>
      <p:sp>
        <p:nvSpPr>
          <p:cNvPr id="16" name="Text 14"/>
          <p:cNvSpPr/>
          <p:nvPr/>
        </p:nvSpPr>
        <p:spPr>
          <a:xfrm>
            <a:off x="4091940" y="3822192"/>
            <a:ext cx="1371600" cy="274320"/>
          </a:xfrm>
          <a:prstGeom prst="rect">
            <a:avLst/>
          </a:prstGeom>
          <a:noFill/>
          <a:ln/>
        </p:spPr>
        <p:txBody>
          <a:bodyPr wrap="square" lIns="0" tIns="0" rIns="0" bIns="0" rtlCol="0" anchor="ctr"/>
          <a:lstStyle/>
          <a:p>
            <a:pPr algn="ctr" indent="0" marL="0">
              <a:buNone/>
            </a:pPr>
            <a:r>
              <a:rPr lang="en-US" sz="1200" b="1" dirty="0">
                <a:solidFill>
                  <a:srgbClr val="833C30"/>
                </a:solidFill>
                <a:latin typeface="Cairo" pitchFamily="34" charset="0"/>
                <a:ea typeface="Cairo" pitchFamily="34" charset="-122"/>
                <a:cs typeface="Cairo" pitchFamily="34" charset="-120"/>
              </a:rPr>
              <a:t>1912</a:t>
            </a:r>
            <a:endParaRPr lang="en-US" sz="1200" dirty="0"/>
          </a:p>
        </p:txBody>
      </p:sp>
      <p:sp>
        <p:nvSpPr>
          <p:cNvPr id="17" name="Text 15"/>
          <p:cNvSpPr/>
          <p:nvPr/>
        </p:nvSpPr>
        <p:spPr>
          <a:xfrm>
            <a:off x="4064508" y="4114800"/>
            <a:ext cx="1426464" cy="1234440"/>
          </a:xfrm>
          <a:prstGeom prst="rect">
            <a:avLst/>
          </a:prstGeom>
          <a:noFill/>
          <a:ln/>
        </p:spPr>
        <p:txBody>
          <a:bodyPr wrap="square" lIns="0" tIns="0" rIns="0" bIns="0" rtlCol="0" anchor="t"/>
          <a:lstStyle/>
          <a:p>
            <a:pPr algn="ctr" indent="0" marL="0">
              <a:lnSpc>
                <a:spcPts val="1100"/>
              </a:lnSpc>
              <a:buNone/>
            </a:pPr>
            <a:r>
              <a:rPr lang="en-US" sz="900" dirty="0">
                <a:solidFill>
                  <a:srgbClr val="2A5262"/>
                </a:solidFill>
                <a:latin typeface="Cairo" pitchFamily="34" charset="0"/>
                <a:ea typeface="Cairo" pitchFamily="34" charset="-122"/>
                <a:cs typeface="Cairo" pitchFamily="34" charset="-120"/>
              </a:rPr>
              <a:t>Tratado de Fez: nace el Protectorado</a:t>
            </a:r>
            <a:endParaRPr lang="en-US" sz="900" dirty="0"/>
          </a:p>
        </p:txBody>
      </p:sp>
      <p:sp>
        <p:nvSpPr>
          <p:cNvPr id="18" name="Shape 16"/>
          <p:cNvSpPr/>
          <p:nvPr/>
        </p:nvSpPr>
        <p:spPr>
          <a:xfrm>
            <a:off x="5998464" y="3575304"/>
            <a:ext cx="164592" cy="164592"/>
          </a:xfrm>
          <a:prstGeom prst="oval">
            <a:avLst/>
          </a:prstGeom>
          <a:solidFill>
            <a:srgbClr val="833C30"/>
          </a:solidFill>
          <a:ln w="25400">
            <a:solidFill>
              <a:srgbClr val="F4F0EB"/>
            </a:solidFill>
            <a:prstDash val="solid"/>
          </a:ln>
        </p:spPr>
      </p:sp>
      <p:sp>
        <p:nvSpPr>
          <p:cNvPr id="19" name="Text 17"/>
          <p:cNvSpPr/>
          <p:nvPr/>
        </p:nvSpPr>
        <p:spPr>
          <a:xfrm>
            <a:off x="5394960" y="3200400"/>
            <a:ext cx="1371600" cy="274320"/>
          </a:xfrm>
          <a:prstGeom prst="rect">
            <a:avLst/>
          </a:prstGeom>
          <a:noFill/>
          <a:ln/>
        </p:spPr>
        <p:txBody>
          <a:bodyPr wrap="square" lIns="0" tIns="0" rIns="0" bIns="0" rtlCol="0" anchor="ctr"/>
          <a:lstStyle/>
          <a:p>
            <a:pPr algn="ctr" indent="0" marL="0">
              <a:buNone/>
            </a:pPr>
            <a:r>
              <a:rPr lang="en-US" sz="1200" b="1" dirty="0">
                <a:solidFill>
                  <a:srgbClr val="833C30"/>
                </a:solidFill>
                <a:latin typeface="Cairo" pitchFamily="34" charset="0"/>
                <a:ea typeface="Cairo" pitchFamily="34" charset="-122"/>
                <a:cs typeface="Cairo" pitchFamily="34" charset="-120"/>
              </a:rPr>
              <a:t>1921</a:t>
            </a:r>
            <a:endParaRPr lang="en-US" sz="1200" dirty="0"/>
          </a:p>
        </p:txBody>
      </p:sp>
      <p:sp>
        <p:nvSpPr>
          <p:cNvPr id="20" name="Text 18"/>
          <p:cNvSpPr/>
          <p:nvPr/>
        </p:nvSpPr>
        <p:spPr>
          <a:xfrm>
            <a:off x="5367528" y="1965960"/>
            <a:ext cx="1426464" cy="1234440"/>
          </a:xfrm>
          <a:prstGeom prst="rect">
            <a:avLst/>
          </a:prstGeom>
          <a:noFill/>
          <a:ln/>
        </p:spPr>
        <p:txBody>
          <a:bodyPr wrap="square" lIns="0" tIns="0" rIns="0" bIns="0" rtlCol="0" anchor="b"/>
          <a:lstStyle/>
          <a:p>
            <a:pPr algn="ctr" indent="0" marL="0">
              <a:lnSpc>
                <a:spcPts val="1100"/>
              </a:lnSpc>
              <a:buNone/>
            </a:pPr>
            <a:r>
              <a:rPr lang="en-US" sz="900" dirty="0">
                <a:solidFill>
                  <a:srgbClr val="2A5262"/>
                </a:solidFill>
                <a:latin typeface="Cairo" pitchFamily="34" charset="0"/>
                <a:ea typeface="Cairo" pitchFamily="34" charset="-122"/>
                <a:cs typeface="Cairo" pitchFamily="34" charset="-120"/>
              </a:rPr>
              <a:t>Desastre de Annual; República del Rif</a:t>
            </a:r>
            <a:endParaRPr lang="en-US" sz="900" dirty="0"/>
          </a:p>
        </p:txBody>
      </p:sp>
      <p:sp>
        <p:nvSpPr>
          <p:cNvPr id="21" name="Shape 19"/>
          <p:cNvSpPr/>
          <p:nvPr/>
        </p:nvSpPr>
        <p:spPr>
          <a:xfrm>
            <a:off x="7301484" y="3575304"/>
            <a:ext cx="164592" cy="164592"/>
          </a:xfrm>
          <a:prstGeom prst="oval">
            <a:avLst/>
          </a:prstGeom>
          <a:solidFill>
            <a:srgbClr val="833C30"/>
          </a:solidFill>
          <a:ln w="25400">
            <a:solidFill>
              <a:srgbClr val="F4F0EB"/>
            </a:solidFill>
            <a:prstDash val="solid"/>
          </a:ln>
        </p:spPr>
      </p:sp>
      <p:sp>
        <p:nvSpPr>
          <p:cNvPr id="22" name="Text 20"/>
          <p:cNvSpPr/>
          <p:nvPr/>
        </p:nvSpPr>
        <p:spPr>
          <a:xfrm>
            <a:off x="6697980" y="3822192"/>
            <a:ext cx="1371600" cy="274320"/>
          </a:xfrm>
          <a:prstGeom prst="rect">
            <a:avLst/>
          </a:prstGeom>
          <a:noFill/>
          <a:ln/>
        </p:spPr>
        <p:txBody>
          <a:bodyPr wrap="square" lIns="0" tIns="0" rIns="0" bIns="0" rtlCol="0" anchor="ctr"/>
          <a:lstStyle/>
          <a:p>
            <a:pPr algn="ctr" indent="0" marL="0">
              <a:buNone/>
            </a:pPr>
            <a:r>
              <a:rPr lang="en-US" sz="1200" b="1" dirty="0">
                <a:solidFill>
                  <a:srgbClr val="833C30"/>
                </a:solidFill>
                <a:latin typeface="Cairo" pitchFamily="34" charset="0"/>
                <a:ea typeface="Cairo" pitchFamily="34" charset="-122"/>
                <a:cs typeface="Cairo" pitchFamily="34" charset="-120"/>
              </a:rPr>
              <a:t>1925</a:t>
            </a:r>
            <a:endParaRPr lang="en-US" sz="1200" dirty="0"/>
          </a:p>
        </p:txBody>
      </p:sp>
      <p:sp>
        <p:nvSpPr>
          <p:cNvPr id="23" name="Text 21"/>
          <p:cNvSpPr/>
          <p:nvPr/>
        </p:nvSpPr>
        <p:spPr>
          <a:xfrm>
            <a:off x="6670548" y="4114800"/>
            <a:ext cx="1426464" cy="1234440"/>
          </a:xfrm>
          <a:prstGeom prst="rect">
            <a:avLst/>
          </a:prstGeom>
          <a:noFill/>
          <a:ln/>
        </p:spPr>
        <p:txBody>
          <a:bodyPr wrap="square" lIns="0" tIns="0" rIns="0" bIns="0" rtlCol="0" anchor="t"/>
          <a:lstStyle/>
          <a:p>
            <a:pPr algn="ctr" indent="0" marL="0">
              <a:lnSpc>
                <a:spcPts val="1100"/>
              </a:lnSpc>
              <a:buNone/>
            </a:pPr>
            <a:r>
              <a:rPr lang="en-US" sz="900" dirty="0">
                <a:solidFill>
                  <a:srgbClr val="2A5262"/>
                </a:solidFill>
                <a:latin typeface="Cairo" pitchFamily="34" charset="0"/>
                <a:ea typeface="Cairo" pitchFamily="34" charset="-122"/>
                <a:cs typeface="Cairo" pitchFamily="34" charset="-120"/>
              </a:rPr>
              <a:t>Derrota de Abd el-Krim en Alhucemas</a:t>
            </a:r>
            <a:endParaRPr lang="en-US" sz="900" dirty="0"/>
          </a:p>
        </p:txBody>
      </p:sp>
      <p:sp>
        <p:nvSpPr>
          <p:cNvPr id="24" name="Shape 22"/>
          <p:cNvSpPr/>
          <p:nvPr/>
        </p:nvSpPr>
        <p:spPr>
          <a:xfrm>
            <a:off x="8604504" y="3575304"/>
            <a:ext cx="164592" cy="164592"/>
          </a:xfrm>
          <a:prstGeom prst="oval">
            <a:avLst/>
          </a:prstGeom>
          <a:solidFill>
            <a:srgbClr val="833C30"/>
          </a:solidFill>
          <a:ln w="25400">
            <a:solidFill>
              <a:srgbClr val="F4F0EB"/>
            </a:solidFill>
            <a:prstDash val="solid"/>
          </a:ln>
        </p:spPr>
      </p:sp>
      <p:sp>
        <p:nvSpPr>
          <p:cNvPr id="25" name="Text 23"/>
          <p:cNvSpPr/>
          <p:nvPr/>
        </p:nvSpPr>
        <p:spPr>
          <a:xfrm>
            <a:off x="8001000" y="3200400"/>
            <a:ext cx="1371600" cy="274320"/>
          </a:xfrm>
          <a:prstGeom prst="rect">
            <a:avLst/>
          </a:prstGeom>
          <a:noFill/>
          <a:ln/>
        </p:spPr>
        <p:txBody>
          <a:bodyPr wrap="square" lIns="0" tIns="0" rIns="0" bIns="0" rtlCol="0" anchor="ctr"/>
          <a:lstStyle/>
          <a:p>
            <a:pPr algn="ctr" indent="0" marL="0">
              <a:buNone/>
            </a:pPr>
            <a:r>
              <a:rPr lang="en-US" sz="1200" b="1" dirty="0">
                <a:solidFill>
                  <a:srgbClr val="833C30"/>
                </a:solidFill>
                <a:latin typeface="Cairo" pitchFamily="34" charset="0"/>
                <a:ea typeface="Cairo" pitchFamily="34" charset="-122"/>
                <a:cs typeface="Cairo" pitchFamily="34" charset="-120"/>
              </a:rPr>
              <a:t>1936–39</a:t>
            </a:r>
            <a:endParaRPr lang="en-US" sz="1200" dirty="0"/>
          </a:p>
        </p:txBody>
      </p:sp>
      <p:sp>
        <p:nvSpPr>
          <p:cNvPr id="26" name="Text 24"/>
          <p:cNvSpPr/>
          <p:nvPr/>
        </p:nvSpPr>
        <p:spPr>
          <a:xfrm>
            <a:off x="7973568" y="1965960"/>
            <a:ext cx="1426464" cy="1234440"/>
          </a:xfrm>
          <a:prstGeom prst="rect">
            <a:avLst/>
          </a:prstGeom>
          <a:noFill/>
          <a:ln/>
        </p:spPr>
        <p:txBody>
          <a:bodyPr wrap="square" lIns="0" tIns="0" rIns="0" bIns="0" rtlCol="0" anchor="b"/>
          <a:lstStyle/>
          <a:p>
            <a:pPr algn="ctr" indent="0" marL="0">
              <a:lnSpc>
                <a:spcPts val="1100"/>
              </a:lnSpc>
              <a:buNone/>
            </a:pPr>
            <a:r>
              <a:rPr lang="en-US" sz="900" dirty="0">
                <a:solidFill>
                  <a:srgbClr val="2A5262"/>
                </a:solidFill>
                <a:latin typeface="Cairo" pitchFamily="34" charset="0"/>
                <a:ea typeface="Cairo" pitchFamily="34" charset="-122"/>
                <a:cs typeface="Cairo" pitchFamily="34" charset="-120"/>
              </a:rPr>
              <a:t>Regulares marroquíes en la Guerra Civil</a:t>
            </a:r>
            <a:endParaRPr lang="en-US" sz="900" dirty="0"/>
          </a:p>
        </p:txBody>
      </p:sp>
      <p:sp>
        <p:nvSpPr>
          <p:cNvPr id="27" name="Shape 25"/>
          <p:cNvSpPr/>
          <p:nvPr/>
        </p:nvSpPr>
        <p:spPr>
          <a:xfrm>
            <a:off x="9907524" y="3575304"/>
            <a:ext cx="164592" cy="164592"/>
          </a:xfrm>
          <a:prstGeom prst="oval">
            <a:avLst/>
          </a:prstGeom>
          <a:solidFill>
            <a:srgbClr val="833C30"/>
          </a:solidFill>
          <a:ln w="25400">
            <a:solidFill>
              <a:srgbClr val="F4F0EB"/>
            </a:solidFill>
            <a:prstDash val="solid"/>
          </a:ln>
        </p:spPr>
      </p:sp>
      <p:sp>
        <p:nvSpPr>
          <p:cNvPr id="28" name="Text 26"/>
          <p:cNvSpPr/>
          <p:nvPr/>
        </p:nvSpPr>
        <p:spPr>
          <a:xfrm>
            <a:off x="9304020" y="3822192"/>
            <a:ext cx="1371600" cy="274320"/>
          </a:xfrm>
          <a:prstGeom prst="rect">
            <a:avLst/>
          </a:prstGeom>
          <a:noFill/>
          <a:ln/>
        </p:spPr>
        <p:txBody>
          <a:bodyPr wrap="square" lIns="0" tIns="0" rIns="0" bIns="0" rtlCol="0" anchor="ctr"/>
          <a:lstStyle/>
          <a:p>
            <a:pPr algn="ctr" indent="0" marL="0">
              <a:buNone/>
            </a:pPr>
            <a:r>
              <a:rPr lang="en-US" sz="1200" b="1" dirty="0">
                <a:solidFill>
                  <a:srgbClr val="833C30"/>
                </a:solidFill>
                <a:latin typeface="Cairo" pitchFamily="34" charset="0"/>
                <a:ea typeface="Cairo" pitchFamily="34" charset="-122"/>
                <a:cs typeface="Cairo" pitchFamily="34" charset="-120"/>
              </a:rPr>
              <a:t>1956</a:t>
            </a:r>
            <a:endParaRPr lang="en-US" sz="1200" dirty="0"/>
          </a:p>
        </p:txBody>
      </p:sp>
      <p:sp>
        <p:nvSpPr>
          <p:cNvPr id="29" name="Text 27"/>
          <p:cNvSpPr/>
          <p:nvPr/>
        </p:nvSpPr>
        <p:spPr>
          <a:xfrm>
            <a:off x="9276588" y="4114800"/>
            <a:ext cx="1426464" cy="1234440"/>
          </a:xfrm>
          <a:prstGeom prst="rect">
            <a:avLst/>
          </a:prstGeom>
          <a:noFill/>
          <a:ln/>
        </p:spPr>
        <p:txBody>
          <a:bodyPr wrap="square" lIns="0" tIns="0" rIns="0" bIns="0" rtlCol="0" anchor="t"/>
          <a:lstStyle/>
          <a:p>
            <a:pPr algn="ctr" indent="0" marL="0">
              <a:lnSpc>
                <a:spcPts val="1100"/>
              </a:lnSpc>
              <a:buNone/>
            </a:pPr>
            <a:r>
              <a:rPr lang="en-US" sz="900" dirty="0">
                <a:solidFill>
                  <a:srgbClr val="2A5262"/>
                </a:solidFill>
                <a:latin typeface="Cairo" pitchFamily="34" charset="0"/>
                <a:ea typeface="Cairo" pitchFamily="34" charset="-122"/>
                <a:cs typeface="Cairo" pitchFamily="34" charset="-120"/>
              </a:rPr>
              <a:t>Independencia de Marruecos</a:t>
            </a:r>
            <a:endParaRPr lang="en-US" sz="900" dirty="0"/>
          </a:p>
        </p:txBody>
      </p:sp>
      <p:sp>
        <p:nvSpPr>
          <p:cNvPr id="30" name="Shape 28"/>
          <p:cNvSpPr/>
          <p:nvPr/>
        </p:nvSpPr>
        <p:spPr>
          <a:xfrm>
            <a:off x="11210544" y="3575304"/>
            <a:ext cx="164592" cy="164592"/>
          </a:xfrm>
          <a:prstGeom prst="oval">
            <a:avLst/>
          </a:prstGeom>
          <a:solidFill>
            <a:srgbClr val="833C30"/>
          </a:solidFill>
          <a:ln w="25400">
            <a:solidFill>
              <a:srgbClr val="F4F0EB"/>
            </a:solidFill>
            <a:prstDash val="solid"/>
          </a:ln>
        </p:spPr>
      </p:sp>
      <p:sp>
        <p:nvSpPr>
          <p:cNvPr id="31" name="Text 29"/>
          <p:cNvSpPr/>
          <p:nvPr/>
        </p:nvSpPr>
        <p:spPr>
          <a:xfrm>
            <a:off x="10607040" y="3200400"/>
            <a:ext cx="1371600" cy="274320"/>
          </a:xfrm>
          <a:prstGeom prst="rect">
            <a:avLst/>
          </a:prstGeom>
          <a:noFill/>
          <a:ln/>
        </p:spPr>
        <p:txBody>
          <a:bodyPr wrap="square" lIns="0" tIns="0" rIns="0" bIns="0" rtlCol="0" anchor="ctr"/>
          <a:lstStyle/>
          <a:p>
            <a:pPr algn="ctr" indent="0" marL="0">
              <a:buNone/>
            </a:pPr>
            <a:r>
              <a:rPr lang="en-US" sz="1200" b="1" dirty="0">
                <a:solidFill>
                  <a:srgbClr val="833C30"/>
                </a:solidFill>
                <a:latin typeface="Cairo" pitchFamily="34" charset="0"/>
                <a:ea typeface="Cairo" pitchFamily="34" charset="-122"/>
                <a:cs typeface="Cairo" pitchFamily="34" charset="-120"/>
              </a:rPr>
              <a:t>1975</a:t>
            </a:r>
            <a:endParaRPr lang="en-US" sz="1200" dirty="0"/>
          </a:p>
        </p:txBody>
      </p:sp>
      <p:sp>
        <p:nvSpPr>
          <p:cNvPr id="32" name="Text 30"/>
          <p:cNvSpPr/>
          <p:nvPr/>
        </p:nvSpPr>
        <p:spPr>
          <a:xfrm>
            <a:off x="10579608" y="1965960"/>
            <a:ext cx="1426464" cy="1234440"/>
          </a:xfrm>
          <a:prstGeom prst="rect">
            <a:avLst/>
          </a:prstGeom>
          <a:noFill/>
          <a:ln/>
        </p:spPr>
        <p:txBody>
          <a:bodyPr wrap="square" lIns="0" tIns="0" rIns="0" bIns="0" rtlCol="0" anchor="b"/>
          <a:lstStyle/>
          <a:p>
            <a:pPr algn="ctr" indent="0" marL="0">
              <a:lnSpc>
                <a:spcPts val="1100"/>
              </a:lnSpc>
              <a:buNone/>
            </a:pPr>
            <a:r>
              <a:rPr lang="en-US" sz="900" dirty="0">
                <a:solidFill>
                  <a:srgbClr val="2A5262"/>
                </a:solidFill>
                <a:latin typeface="Cairo" pitchFamily="34" charset="0"/>
                <a:ea typeface="Cairo" pitchFamily="34" charset="-122"/>
                <a:cs typeface="Cairo" pitchFamily="34" charset="-120"/>
              </a:rPr>
              <a:t>Marcha Verde y ocupación del Sáhara</a:t>
            </a:r>
            <a:endParaRPr lang="en-US" sz="900" dirty="0"/>
          </a:p>
        </p:txBody>
      </p:sp>
      <p:sp>
        <p:nvSpPr>
          <p:cNvPr id="33" name="Text 31"/>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850" spc="200" kern="0" dirty="0">
                <a:solidFill>
                  <a:srgbClr val="B9917C"/>
                </a:solidFill>
                <a:latin typeface="Cairo" pitchFamily="34" charset="0"/>
                <a:ea typeface="Cairo" pitchFamily="34" charset="-122"/>
                <a:cs typeface="Cairo" pitchFamily="34" charset="-120"/>
              </a:rPr>
              <a:t>Sesión 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B"/>
        </a:solidFill>
      </p:bgPr>
    </p:bg>
    <p:spTree>
      <p:nvGrpSpPr>
        <p:cNvPr id="1" name=""/>
        <p:cNvGrpSpPr/>
        <p:nvPr/>
      </p:nvGrpSpPr>
      <p:grpSpPr>
        <a:xfrm>
          <a:off x="0" y="0"/>
          <a:ext cx="0" cy="0"/>
          <a:chOff x="0" y="0"/>
          <a:chExt cx="0" cy="0"/>
        </a:xfrm>
      </p:grpSpPr>
      <p:sp>
        <p:nvSpPr>
          <p:cNvPr id="2" name="Shape 0"/>
          <p:cNvSpPr/>
          <p:nvPr/>
        </p:nvSpPr>
        <p:spPr>
          <a:xfrm>
            <a:off x="640080" y="644652"/>
            <a:ext cx="292608" cy="20117"/>
          </a:xfrm>
          <a:prstGeom prst="rect">
            <a:avLst/>
          </a:prstGeom>
          <a:solidFill>
            <a:srgbClr val="833C30"/>
          </a:solidFill>
          <a:ln/>
        </p:spPr>
      </p:sp>
      <p:sp>
        <p:nvSpPr>
          <p:cNvPr id="3" name="Text 1"/>
          <p:cNvSpPr/>
          <p:nvPr/>
        </p:nvSpPr>
        <p:spPr>
          <a:xfrm>
            <a:off x="1024128" y="566928"/>
            <a:ext cx="7315200" cy="274320"/>
          </a:xfrm>
          <a:prstGeom prst="rect">
            <a:avLst/>
          </a:prstGeom>
          <a:noFill/>
          <a:ln/>
        </p:spPr>
        <p:txBody>
          <a:bodyPr wrap="square" lIns="0" tIns="0" rIns="0" bIns="0" rtlCol="0" anchor="t"/>
          <a:lstStyle/>
          <a:p>
            <a:pPr algn="l" indent="0" marL="0">
              <a:buNone/>
            </a:pPr>
            <a:r>
              <a:rPr lang="en-US" sz="1100" b="1" spc="300" kern="0" dirty="0">
                <a:solidFill>
                  <a:srgbClr val="833C30"/>
                </a:solidFill>
                <a:latin typeface="Cairo" pitchFamily="34" charset="0"/>
                <a:ea typeface="Cairo" pitchFamily="34" charset="-122"/>
                <a:cs typeface="Cairo" pitchFamily="34" charset="-120"/>
              </a:rPr>
              <a:t>CARTOGRAFÍA</a:t>
            </a:r>
            <a:endParaRPr lang="en-US" sz="1100" dirty="0"/>
          </a:p>
        </p:txBody>
      </p:sp>
      <p:sp>
        <p:nvSpPr>
          <p:cNvPr id="4" name="Text 2"/>
          <p:cNvSpPr/>
          <p:nvPr/>
        </p:nvSpPr>
        <p:spPr>
          <a:xfrm>
            <a:off x="603504" y="932688"/>
            <a:ext cx="10972800" cy="1005840"/>
          </a:xfrm>
          <a:prstGeom prst="rect">
            <a:avLst/>
          </a:prstGeom>
          <a:noFill/>
          <a:ln/>
        </p:spPr>
        <p:txBody>
          <a:bodyPr wrap="square" lIns="0" tIns="0" rIns="0" bIns="0" rtlCol="0" anchor="t"/>
          <a:lstStyle/>
          <a:p>
            <a:pPr algn="l" indent="0" marL="0">
              <a:lnSpc>
                <a:spcPts val="3200"/>
              </a:lnSpc>
              <a:buNone/>
            </a:pPr>
            <a:r>
              <a:rPr lang="en-US" sz="2900" b="1" dirty="0">
                <a:solidFill>
                  <a:srgbClr val="1E3D47"/>
                </a:solidFill>
                <a:latin typeface="Cairo" pitchFamily="34" charset="0"/>
                <a:ea typeface="Cairo" pitchFamily="34" charset="-122"/>
                <a:cs typeface="Cairo" pitchFamily="34" charset="-120"/>
              </a:rPr>
              <a:t>El protectorado español de Marruecos, 1920</a:t>
            </a:r>
            <a:endParaRPr lang="en-US" sz="2900" dirty="0"/>
          </a:p>
        </p:txBody>
      </p:sp>
      <p:sp>
        <p:nvSpPr>
          <p:cNvPr id="5" name="Shape 3"/>
          <p:cNvSpPr/>
          <p:nvPr/>
        </p:nvSpPr>
        <p:spPr>
          <a:xfrm>
            <a:off x="2962656" y="1819656"/>
            <a:ext cx="6281928" cy="4224528"/>
          </a:xfrm>
          <a:prstGeom prst="rect">
            <a:avLst/>
          </a:prstGeom>
          <a:solidFill>
            <a:srgbClr val="1E3D47"/>
          </a:solidFill>
          <a:ln/>
          <a:effectLst>
            <a:outerShdw sx="100000" sy="100000" kx="0" ky="0" algn="bl" rotWithShape="0" blurRad="114300" dist="50800" dir="5400000">
              <a:srgbClr val="1E3D47">
                <a:alpha val="28000"/>
              </a:srgbClr>
            </a:outerShdw>
          </a:effectLst>
        </p:spPr>
      </p:sp>
      <p:pic>
        <p:nvPicPr>
          <p:cNvPr id="6" name="Image 0" descr="/tmp/assets/map_protectorado.png">    </p:cNvPr>
          <p:cNvPicPr>
            <a:picLocks noChangeAspect="1"/>
          </p:cNvPicPr>
          <p:nvPr/>
        </p:nvPicPr>
        <p:blipFill>
          <a:blip r:embed="rId1"/>
          <a:srcRect l="0" r="0" t="0" b="0"/>
          <a:stretch/>
        </p:blipFill>
        <p:spPr>
          <a:xfrm>
            <a:off x="3063240" y="1920240"/>
            <a:ext cx="6080760" cy="4023360"/>
          </a:xfrm>
          <a:prstGeom prst="rect">
            <a:avLst/>
          </a:prstGeom>
        </p:spPr>
      </p:pic>
      <p:sp>
        <p:nvSpPr>
          <p:cNvPr id="7" name="Text 4"/>
          <p:cNvSpPr/>
          <p:nvPr/>
        </p:nvSpPr>
        <p:spPr>
          <a:xfrm>
            <a:off x="3063240" y="6053328"/>
            <a:ext cx="6080760" cy="457200"/>
          </a:xfrm>
          <a:prstGeom prst="rect">
            <a:avLst/>
          </a:prstGeom>
          <a:noFill/>
          <a:ln/>
        </p:spPr>
        <p:txBody>
          <a:bodyPr wrap="square" lIns="0" tIns="0" rIns="0" bIns="0" rtlCol="0" anchor="t"/>
          <a:lstStyle/>
          <a:p>
            <a:pPr algn="l" indent="0" marL="0">
              <a:buNone/>
            </a:pPr>
            <a:r>
              <a:rPr lang="en-US" sz="1050" i="1" dirty="0">
                <a:solidFill>
                  <a:srgbClr val="366875"/>
                </a:solidFill>
                <a:latin typeface="Cairo" pitchFamily="34" charset="0"/>
                <a:ea typeface="Cairo" pitchFamily="34" charset="-122"/>
                <a:cs typeface="Cairo" pitchFamily="34" charset="-120"/>
              </a:rPr>
              <a:t>Zona española del Protectorado — vigente entre 1912 y 1956</a:t>
            </a:r>
            <a:endParaRPr lang="en-US" sz="1050" dirty="0"/>
          </a:p>
        </p:txBody>
      </p:sp>
      <p:sp>
        <p:nvSpPr>
          <p:cNvPr id="8" name="Text 5"/>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850" spc="200" kern="0" dirty="0">
                <a:solidFill>
                  <a:srgbClr val="B9917C"/>
                </a:solidFill>
                <a:latin typeface="Cairo" pitchFamily="34" charset="0"/>
                <a:ea typeface="Cairo" pitchFamily="34" charset="-122"/>
                <a:cs typeface="Cairo" pitchFamily="34" charset="-120"/>
              </a:rPr>
              <a:t>Sesión 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B"/>
        </a:solidFill>
      </p:bgPr>
    </p:bg>
    <p:spTree>
      <p:nvGrpSpPr>
        <p:cNvPr id="1" name=""/>
        <p:cNvGrpSpPr/>
        <p:nvPr/>
      </p:nvGrpSpPr>
      <p:grpSpPr>
        <a:xfrm>
          <a:off x="0" y="0"/>
          <a:ext cx="0" cy="0"/>
          <a:chOff x="0" y="0"/>
          <a:chExt cx="0" cy="0"/>
        </a:xfrm>
      </p:grpSpPr>
      <p:sp>
        <p:nvSpPr>
          <p:cNvPr id="2" name="Shape 0"/>
          <p:cNvSpPr/>
          <p:nvPr/>
        </p:nvSpPr>
        <p:spPr>
          <a:xfrm>
            <a:off x="640080" y="644652"/>
            <a:ext cx="292608" cy="20117"/>
          </a:xfrm>
          <a:prstGeom prst="rect">
            <a:avLst/>
          </a:prstGeom>
          <a:solidFill>
            <a:srgbClr val="833C30"/>
          </a:solidFill>
          <a:ln/>
        </p:spPr>
      </p:sp>
      <p:sp>
        <p:nvSpPr>
          <p:cNvPr id="3" name="Text 1"/>
          <p:cNvSpPr/>
          <p:nvPr/>
        </p:nvSpPr>
        <p:spPr>
          <a:xfrm>
            <a:off x="1024128" y="566928"/>
            <a:ext cx="7315200" cy="274320"/>
          </a:xfrm>
          <a:prstGeom prst="rect">
            <a:avLst/>
          </a:prstGeom>
          <a:noFill/>
          <a:ln/>
        </p:spPr>
        <p:txBody>
          <a:bodyPr wrap="square" lIns="0" tIns="0" rIns="0" bIns="0" rtlCol="0" anchor="t"/>
          <a:lstStyle/>
          <a:p>
            <a:pPr algn="l" indent="0" marL="0">
              <a:buNone/>
            </a:pPr>
            <a:r>
              <a:rPr lang="en-US" sz="1100" b="1" spc="300" kern="0" dirty="0">
                <a:solidFill>
                  <a:srgbClr val="833C30"/>
                </a:solidFill>
                <a:latin typeface="Cairo" pitchFamily="34" charset="0"/>
                <a:ea typeface="Cairo" pitchFamily="34" charset="-122"/>
                <a:cs typeface="Cairo" pitchFamily="34" charset="-120"/>
              </a:rPr>
              <a:t>FUENTE PRIMARIA 1</a:t>
            </a:r>
            <a:endParaRPr lang="en-US" sz="1100" dirty="0"/>
          </a:p>
        </p:txBody>
      </p:sp>
      <p:sp>
        <p:nvSpPr>
          <p:cNvPr id="4" name="Text 2"/>
          <p:cNvSpPr/>
          <p:nvPr/>
        </p:nvSpPr>
        <p:spPr>
          <a:xfrm>
            <a:off x="603504" y="932688"/>
            <a:ext cx="10972800" cy="1005840"/>
          </a:xfrm>
          <a:prstGeom prst="rect">
            <a:avLst/>
          </a:prstGeom>
          <a:noFill/>
          <a:ln/>
        </p:spPr>
        <p:txBody>
          <a:bodyPr wrap="square" lIns="0" tIns="0" rIns="0" bIns="0" rtlCol="0" anchor="t"/>
          <a:lstStyle/>
          <a:p>
            <a:pPr algn="l" indent="0" marL="0">
              <a:lnSpc>
                <a:spcPts val="3200"/>
              </a:lnSpc>
              <a:buNone/>
            </a:pPr>
            <a:r>
              <a:rPr lang="en-US" sz="2900" b="1" dirty="0">
                <a:solidFill>
                  <a:srgbClr val="1E3D47"/>
                </a:solidFill>
                <a:latin typeface="Cairo" pitchFamily="34" charset="0"/>
                <a:ea typeface="Cairo" pitchFamily="34" charset="-122"/>
                <a:cs typeface="Cairo" pitchFamily="34" charset="-120"/>
              </a:rPr>
              <a:t>Tomás García Figueras</a:t>
            </a:r>
            <a:endParaRPr lang="en-US" sz="2900" dirty="0"/>
          </a:p>
        </p:txBody>
      </p:sp>
      <p:sp>
        <p:nvSpPr>
          <p:cNvPr id="5" name="Text 3"/>
          <p:cNvSpPr/>
          <p:nvPr/>
        </p:nvSpPr>
        <p:spPr>
          <a:xfrm>
            <a:off x="640080" y="1572768"/>
            <a:ext cx="10881360" cy="365760"/>
          </a:xfrm>
          <a:prstGeom prst="rect">
            <a:avLst/>
          </a:prstGeom>
          <a:noFill/>
          <a:ln/>
        </p:spPr>
        <p:txBody>
          <a:bodyPr wrap="square" lIns="0" tIns="0" rIns="0" bIns="0" rtlCol="0" anchor="ctr"/>
          <a:lstStyle/>
          <a:p>
            <a:pPr indent="0" marL="0">
              <a:buNone/>
            </a:pPr>
            <a:r>
              <a:rPr lang="en-US" sz="1300" i="1" dirty="0">
                <a:solidFill>
                  <a:srgbClr val="A04E40"/>
                </a:solidFill>
                <a:latin typeface="Cairo" pitchFamily="34" charset="0"/>
                <a:ea typeface="Cairo" pitchFamily="34" charset="-122"/>
                <a:cs typeface="Cairo" pitchFamily="34" charset="-120"/>
              </a:rPr>
              <a:t>«Recuerdos de la campaña», África — noviembre de 1928</a:t>
            </a:r>
            <a:endParaRPr lang="en-US" sz="1300" dirty="0"/>
          </a:p>
        </p:txBody>
      </p:sp>
      <p:sp>
        <p:nvSpPr>
          <p:cNvPr id="6" name="Text 4"/>
          <p:cNvSpPr/>
          <p:nvPr/>
        </p:nvSpPr>
        <p:spPr>
          <a:xfrm>
            <a:off x="502920" y="2057400"/>
            <a:ext cx="2194560" cy="2194560"/>
          </a:xfrm>
          <a:prstGeom prst="rect">
            <a:avLst/>
          </a:prstGeom>
          <a:noFill/>
          <a:ln/>
        </p:spPr>
        <p:txBody>
          <a:bodyPr wrap="square" lIns="0" tIns="0" rIns="0" bIns="0" rtlCol="0" anchor="t"/>
          <a:lstStyle/>
          <a:p>
            <a:pPr algn="l" indent="0" marL="0">
              <a:buNone/>
            </a:pPr>
            <a:r>
              <a:rPr lang="en-US" sz="20000" dirty="0">
                <a:solidFill>
                  <a:srgbClr val="ECDDD5"/>
                </a:solidFill>
                <a:latin typeface="Georgia" pitchFamily="34" charset="0"/>
                <a:ea typeface="Georgia" pitchFamily="34" charset="-122"/>
                <a:cs typeface="Georgia" pitchFamily="34" charset="-120"/>
              </a:rPr>
              <a:t>“</a:t>
            </a:r>
            <a:endParaRPr lang="en-US" sz="20000" dirty="0"/>
          </a:p>
        </p:txBody>
      </p:sp>
      <p:sp>
        <p:nvSpPr>
          <p:cNvPr id="7" name="Text 5"/>
          <p:cNvSpPr/>
          <p:nvPr/>
        </p:nvSpPr>
        <p:spPr>
          <a:xfrm>
            <a:off x="1554480" y="2514600"/>
            <a:ext cx="9052560" cy="2743200"/>
          </a:xfrm>
          <a:prstGeom prst="rect">
            <a:avLst/>
          </a:prstGeom>
          <a:noFill/>
          <a:ln/>
        </p:spPr>
        <p:txBody>
          <a:bodyPr wrap="square" lIns="0" tIns="0" rIns="0" bIns="0" rtlCol="0" anchor="t"/>
          <a:lstStyle/>
          <a:p>
            <a:pPr algn="l" indent="0" marL="0">
              <a:lnSpc>
                <a:spcPts val="3800"/>
              </a:lnSpc>
              <a:buNone/>
            </a:pPr>
            <a:r>
              <a:rPr lang="en-US" sz="2600" i="1" dirty="0">
                <a:solidFill>
                  <a:srgbClr val="1E3D47"/>
                </a:solidFill>
                <a:latin typeface="Cairo" pitchFamily="34" charset="0"/>
                <a:ea typeface="Cairo" pitchFamily="34" charset="-122"/>
                <a:cs typeface="Cairo" pitchFamily="34" charset="-120"/>
              </a:rPr>
              <a:t>Aquella convivencia de africanos y andaluces tan fructífera [nos otorga] una capacitación especial no igualada por pueblo alguno para mostrarnos verdaderos conductores espirituales de los marroquíes.</a:t>
            </a:r>
            <a:endParaRPr lang="en-US" sz="2600" dirty="0"/>
          </a:p>
        </p:txBody>
      </p:sp>
      <p:sp>
        <p:nvSpPr>
          <p:cNvPr id="8" name="Text 6"/>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850" spc="200" kern="0" dirty="0">
                <a:solidFill>
                  <a:srgbClr val="B9917C"/>
                </a:solidFill>
                <a:latin typeface="Cairo" pitchFamily="34" charset="0"/>
                <a:ea typeface="Cairo" pitchFamily="34" charset="-122"/>
                <a:cs typeface="Cairo" pitchFamily="34" charset="-120"/>
              </a:rPr>
              <a:t>Sesión 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0EB"/>
        </a:solidFill>
      </p:bgPr>
    </p:bg>
    <p:spTree>
      <p:nvGrpSpPr>
        <p:cNvPr id="1" name=""/>
        <p:cNvGrpSpPr/>
        <p:nvPr/>
      </p:nvGrpSpPr>
      <p:grpSpPr>
        <a:xfrm>
          <a:off x="0" y="0"/>
          <a:ext cx="0" cy="0"/>
          <a:chOff x="0" y="0"/>
          <a:chExt cx="0" cy="0"/>
        </a:xfrm>
      </p:grpSpPr>
      <p:sp>
        <p:nvSpPr>
          <p:cNvPr id="2" name="Shape 0"/>
          <p:cNvSpPr/>
          <p:nvPr/>
        </p:nvSpPr>
        <p:spPr>
          <a:xfrm>
            <a:off x="640080" y="644652"/>
            <a:ext cx="292608" cy="20117"/>
          </a:xfrm>
          <a:prstGeom prst="rect">
            <a:avLst/>
          </a:prstGeom>
          <a:solidFill>
            <a:srgbClr val="833C30"/>
          </a:solidFill>
          <a:ln/>
        </p:spPr>
      </p:sp>
      <p:sp>
        <p:nvSpPr>
          <p:cNvPr id="3" name="Text 1"/>
          <p:cNvSpPr/>
          <p:nvPr/>
        </p:nvSpPr>
        <p:spPr>
          <a:xfrm>
            <a:off x="1024128" y="566928"/>
            <a:ext cx="7315200" cy="274320"/>
          </a:xfrm>
          <a:prstGeom prst="rect">
            <a:avLst/>
          </a:prstGeom>
          <a:noFill/>
          <a:ln/>
        </p:spPr>
        <p:txBody>
          <a:bodyPr wrap="square" lIns="0" tIns="0" rIns="0" bIns="0" rtlCol="0" anchor="t"/>
          <a:lstStyle/>
          <a:p>
            <a:pPr algn="l" indent="0" marL="0">
              <a:buNone/>
            </a:pPr>
            <a:r>
              <a:rPr lang="en-US" sz="1100" b="1" spc="300" kern="0" dirty="0">
                <a:solidFill>
                  <a:srgbClr val="833C30"/>
                </a:solidFill>
                <a:latin typeface="Cairo" pitchFamily="34" charset="0"/>
                <a:ea typeface="Cairo" pitchFamily="34" charset="-122"/>
                <a:cs typeface="Cairo" pitchFamily="34" charset="-120"/>
              </a:rPr>
              <a:t>FUENTE PRIMARIA 2</a:t>
            </a:r>
            <a:endParaRPr lang="en-US" sz="1100" dirty="0"/>
          </a:p>
        </p:txBody>
      </p:sp>
      <p:sp>
        <p:nvSpPr>
          <p:cNvPr id="4" name="Text 2"/>
          <p:cNvSpPr/>
          <p:nvPr/>
        </p:nvSpPr>
        <p:spPr>
          <a:xfrm>
            <a:off x="603504" y="932688"/>
            <a:ext cx="10972800" cy="1005840"/>
          </a:xfrm>
          <a:prstGeom prst="rect">
            <a:avLst/>
          </a:prstGeom>
          <a:noFill/>
          <a:ln/>
        </p:spPr>
        <p:txBody>
          <a:bodyPr wrap="square" lIns="0" tIns="0" rIns="0" bIns="0" rtlCol="0" anchor="t"/>
          <a:lstStyle/>
          <a:p>
            <a:pPr algn="l" indent="0" marL="0">
              <a:lnSpc>
                <a:spcPts val="3200"/>
              </a:lnSpc>
              <a:buNone/>
            </a:pPr>
            <a:r>
              <a:rPr lang="en-US" sz="2900" b="1" dirty="0">
                <a:solidFill>
                  <a:srgbClr val="1E3D47"/>
                </a:solidFill>
                <a:latin typeface="Cairo" pitchFamily="34" charset="0"/>
                <a:ea typeface="Cairo" pitchFamily="34" charset="-122"/>
                <a:cs typeface="Cairo" pitchFamily="34" charset="-120"/>
              </a:rPr>
              <a:t>Revista de Tropas Coloniales, 1925</a:t>
            </a:r>
            <a:endParaRPr lang="en-US" sz="2900" dirty="0"/>
          </a:p>
        </p:txBody>
      </p:sp>
      <p:sp>
        <p:nvSpPr>
          <p:cNvPr id="5" name="Text 3"/>
          <p:cNvSpPr/>
          <p:nvPr/>
        </p:nvSpPr>
        <p:spPr>
          <a:xfrm>
            <a:off x="640080" y="1600200"/>
            <a:ext cx="3246120" cy="3200400"/>
          </a:xfrm>
          <a:prstGeom prst="rect">
            <a:avLst/>
          </a:prstGeom>
          <a:noFill/>
          <a:ln/>
        </p:spPr>
        <p:txBody>
          <a:bodyPr wrap="square" lIns="0" tIns="0" rIns="0" bIns="0" rtlCol="0" anchor="t"/>
          <a:lstStyle/>
          <a:p>
            <a:pPr algn="l" indent="0" marL="0">
              <a:lnSpc>
                <a:spcPts val="2200"/>
              </a:lnSpc>
              <a:buNone/>
            </a:pPr>
            <a:r>
              <a:rPr lang="en-US" sz="1500" dirty="0">
                <a:solidFill>
                  <a:srgbClr val="2A5262"/>
                </a:solidFill>
                <a:latin typeface="Cairo" pitchFamily="34" charset="0"/>
                <a:ea typeface="Cairo" pitchFamily="34" charset="-122"/>
                <a:cs typeface="Cairo" pitchFamily="34" charset="-120"/>
              </a:rPr>
              <a:t>El discurso colonial presentó la presencia española como un vínculo cultural con el pasado andalusí.</a:t>
            </a:r>
            <a:endParaRPr lang="en-US" sz="1500" dirty="0"/>
          </a:p>
        </p:txBody>
      </p:sp>
      <p:sp>
        <p:nvSpPr>
          <p:cNvPr id="6" name="Shape 4"/>
          <p:cNvSpPr/>
          <p:nvPr/>
        </p:nvSpPr>
        <p:spPr>
          <a:xfrm>
            <a:off x="4334256" y="1682496"/>
            <a:ext cx="3447288" cy="4178808"/>
          </a:xfrm>
          <a:prstGeom prst="rect">
            <a:avLst/>
          </a:prstGeom>
          <a:solidFill>
            <a:srgbClr val="833C30"/>
          </a:solidFill>
          <a:ln/>
          <a:effectLst>
            <a:outerShdw sx="100000" sy="100000" kx="0" ky="0" algn="bl" rotWithShape="0" blurRad="114300" dist="50800" dir="5400000">
              <a:srgbClr val="1E3D47">
                <a:alpha val="28000"/>
              </a:srgbClr>
            </a:outerShdw>
          </a:effectLst>
        </p:spPr>
      </p:sp>
      <p:pic>
        <p:nvPicPr>
          <p:cNvPr id="7" name="Image 0" descr="/tmp/assets/espana_musulmana.png">    </p:cNvPr>
          <p:cNvPicPr>
            <a:picLocks noChangeAspect="1"/>
          </p:cNvPicPr>
          <p:nvPr/>
        </p:nvPicPr>
        <p:blipFill>
          <a:blip r:embed="rId1"/>
          <a:srcRect l="0" r="0" t="0" b="0"/>
          <a:stretch/>
        </p:blipFill>
        <p:spPr>
          <a:xfrm>
            <a:off x="4434840" y="1783080"/>
            <a:ext cx="3246120" cy="3977640"/>
          </a:xfrm>
          <a:prstGeom prst="rect">
            <a:avLst/>
          </a:prstGeom>
        </p:spPr>
      </p:pic>
      <p:sp>
        <p:nvSpPr>
          <p:cNvPr id="8" name="Shape 5"/>
          <p:cNvSpPr/>
          <p:nvPr/>
        </p:nvSpPr>
        <p:spPr>
          <a:xfrm>
            <a:off x="7991856" y="1682496"/>
            <a:ext cx="3264408" cy="4178808"/>
          </a:xfrm>
          <a:prstGeom prst="rect">
            <a:avLst/>
          </a:prstGeom>
          <a:solidFill>
            <a:srgbClr val="833C30"/>
          </a:solidFill>
          <a:ln/>
          <a:effectLst>
            <a:outerShdw sx="100000" sy="100000" kx="0" ky="0" algn="bl" rotWithShape="0" blurRad="114300" dist="50800" dir="5400000">
              <a:srgbClr val="1E3D47">
                <a:alpha val="28000"/>
              </a:srgbClr>
            </a:outerShdw>
          </a:effectLst>
        </p:spPr>
      </p:sp>
      <p:pic>
        <p:nvPicPr>
          <p:cNvPr id="9" name="Image 1" descr="/tmp/assets/marruecos_artistico.png">    </p:cNvPr>
          <p:cNvPicPr>
            <a:picLocks noChangeAspect="1"/>
          </p:cNvPicPr>
          <p:nvPr/>
        </p:nvPicPr>
        <p:blipFill>
          <a:blip r:embed="rId2"/>
          <a:srcRect l="0" r="0" t="0" b="0"/>
          <a:stretch/>
        </p:blipFill>
        <p:spPr>
          <a:xfrm>
            <a:off x="8092440" y="1783080"/>
            <a:ext cx="3063240" cy="3977640"/>
          </a:xfrm>
          <a:prstGeom prst="rect">
            <a:avLst/>
          </a:prstGeom>
        </p:spPr>
      </p:pic>
      <p:sp>
        <p:nvSpPr>
          <p:cNvPr id="10" name="Text 6"/>
          <p:cNvSpPr/>
          <p:nvPr/>
        </p:nvSpPr>
        <p:spPr>
          <a:xfrm>
            <a:off x="4434840" y="5897880"/>
            <a:ext cx="3246120" cy="457200"/>
          </a:xfrm>
          <a:prstGeom prst="rect">
            <a:avLst/>
          </a:prstGeom>
          <a:noFill/>
          <a:ln/>
        </p:spPr>
        <p:txBody>
          <a:bodyPr wrap="square" lIns="0" tIns="0" rIns="0" bIns="0" rtlCol="0" anchor="t"/>
          <a:lstStyle/>
          <a:p>
            <a:pPr algn="l" indent="0" marL="0">
              <a:buNone/>
            </a:pPr>
            <a:r>
              <a:rPr lang="en-US" sz="1050" i="1" dirty="0">
                <a:solidFill>
                  <a:srgbClr val="366875"/>
                </a:solidFill>
                <a:latin typeface="Cairo" pitchFamily="34" charset="0"/>
                <a:ea typeface="Cairo" pitchFamily="34" charset="-122"/>
                <a:cs typeface="Cairo" pitchFamily="34" charset="-120"/>
              </a:rPr>
              <a:t>«España Musulmana»</a:t>
            </a:r>
            <a:endParaRPr lang="en-US" sz="1050" dirty="0"/>
          </a:p>
        </p:txBody>
      </p:sp>
      <p:sp>
        <p:nvSpPr>
          <p:cNvPr id="11" name="Text 7"/>
          <p:cNvSpPr/>
          <p:nvPr/>
        </p:nvSpPr>
        <p:spPr>
          <a:xfrm>
            <a:off x="8092440" y="5897880"/>
            <a:ext cx="3063240" cy="457200"/>
          </a:xfrm>
          <a:prstGeom prst="rect">
            <a:avLst/>
          </a:prstGeom>
          <a:noFill/>
          <a:ln/>
        </p:spPr>
        <p:txBody>
          <a:bodyPr wrap="square" lIns="0" tIns="0" rIns="0" bIns="0" rtlCol="0" anchor="t"/>
          <a:lstStyle/>
          <a:p>
            <a:pPr algn="l" indent="0" marL="0">
              <a:buNone/>
            </a:pPr>
            <a:r>
              <a:rPr lang="en-US" sz="1050" i="1" dirty="0">
                <a:solidFill>
                  <a:srgbClr val="366875"/>
                </a:solidFill>
                <a:latin typeface="Cairo" pitchFamily="34" charset="0"/>
                <a:ea typeface="Cairo" pitchFamily="34" charset="-122"/>
                <a:cs typeface="Cairo" pitchFamily="34" charset="-120"/>
              </a:rPr>
              <a:t>«Marruecos Artístico»</a:t>
            </a:r>
            <a:endParaRPr lang="en-US" sz="1050" dirty="0"/>
          </a:p>
        </p:txBody>
      </p:sp>
      <p:sp>
        <p:nvSpPr>
          <p:cNvPr id="12" name="Text 8"/>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850" spc="200" kern="0" dirty="0">
                <a:solidFill>
                  <a:srgbClr val="B9917C"/>
                </a:solidFill>
                <a:latin typeface="Cairo" pitchFamily="34" charset="0"/>
                <a:ea typeface="Cairo" pitchFamily="34" charset="-122"/>
                <a:cs typeface="Cairo" pitchFamily="34" charset="-120"/>
              </a:rPr>
              <a:t>Sesión 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B"/>
        </a:solidFill>
      </p:bgPr>
    </p:bg>
    <p:spTree>
      <p:nvGrpSpPr>
        <p:cNvPr id="1" name=""/>
        <p:cNvGrpSpPr/>
        <p:nvPr/>
      </p:nvGrpSpPr>
      <p:grpSpPr>
        <a:xfrm>
          <a:off x="0" y="0"/>
          <a:ext cx="0" cy="0"/>
          <a:chOff x="0" y="0"/>
          <a:chExt cx="0" cy="0"/>
        </a:xfrm>
      </p:grpSpPr>
      <p:sp>
        <p:nvSpPr>
          <p:cNvPr id="2" name="Shape 0"/>
          <p:cNvSpPr/>
          <p:nvPr/>
        </p:nvSpPr>
        <p:spPr>
          <a:xfrm>
            <a:off x="640080" y="644652"/>
            <a:ext cx="292608" cy="20117"/>
          </a:xfrm>
          <a:prstGeom prst="rect">
            <a:avLst/>
          </a:prstGeom>
          <a:solidFill>
            <a:srgbClr val="833C30"/>
          </a:solidFill>
          <a:ln/>
        </p:spPr>
      </p:sp>
      <p:sp>
        <p:nvSpPr>
          <p:cNvPr id="3" name="Text 1"/>
          <p:cNvSpPr/>
          <p:nvPr/>
        </p:nvSpPr>
        <p:spPr>
          <a:xfrm>
            <a:off x="1024128" y="566928"/>
            <a:ext cx="7315200" cy="274320"/>
          </a:xfrm>
          <a:prstGeom prst="rect">
            <a:avLst/>
          </a:prstGeom>
          <a:noFill/>
          <a:ln/>
        </p:spPr>
        <p:txBody>
          <a:bodyPr wrap="square" lIns="0" tIns="0" rIns="0" bIns="0" rtlCol="0" anchor="t"/>
          <a:lstStyle/>
          <a:p>
            <a:pPr algn="l" indent="0" marL="0">
              <a:buNone/>
            </a:pPr>
            <a:r>
              <a:rPr lang="en-US" sz="1100" b="1" spc="300" kern="0" dirty="0">
                <a:solidFill>
                  <a:srgbClr val="833C30"/>
                </a:solidFill>
                <a:latin typeface="Cairo" pitchFamily="34" charset="0"/>
                <a:ea typeface="Cairo" pitchFamily="34" charset="-122"/>
                <a:cs typeface="Cairo" pitchFamily="34" charset="-120"/>
              </a:rPr>
              <a:t>FUENTE PRIMARIA 3</a:t>
            </a:r>
            <a:endParaRPr lang="en-US" sz="1100" dirty="0"/>
          </a:p>
        </p:txBody>
      </p:sp>
      <p:sp>
        <p:nvSpPr>
          <p:cNvPr id="4" name="Text 2"/>
          <p:cNvSpPr/>
          <p:nvPr/>
        </p:nvSpPr>
        <p:spPr>
          <a:xfrm>
            <a:off x="603504" y="932688"/>
            <a:ext cx="10972800" cy="1005840"/>
          </a:xfrm>
          <a:prstGeom prst="rect">
            <a:avLst/>
          </a:prstGeom>
          <a:noFill/>
          <a:ln/>
        </p:spPr>
        <p:txBody>
          <a:bodyPr wrap="square" lIns="0" tIns="0" rIns="0" bIns="0" rtlCol="0" anchor="t"/>
          <a:lstStyle/>
          <a:p>
            <a:pPr algn="l" indent="0" marL="0">
              <a:lnSpc>
                <a:spcPts val="3200"/>
              </a:lnSpc>
              <a:buNone/>
            </a:pPr>
            <a:r>
              <a:rPr lang="en-US" sz="2900" b="1" dirty="0">
                <a:solidFill>
                  <a:srgbClr val="1E3D47"/>
                </a:solidFill>
                <a:latin typeface="Cairo" pitchFamily="34" charset="0"/>
                <a:ea typeface="Cairo" pitchFamily="34" charset="-122"/>
                <a:cs typeface="Cairo" pitchFamily="34" charset="-120"/>
              </a:rPr>
              <a:t>Arturo Barea, La Ruta</a:t>
            </a:r>
            <a:endParaRPr lang="en-US" sz="2900" dirty="0"/>
          </a:p>
        </p:txBody>
      </p:sp>
      <p:sp>
        <p:nvSpPr>
          <p:cNvPr id="5" name="Text 3"/>
          <p:cNvSpPr/>
          <p:nvPr/>
        </p:nvSpPr>
        <p:spPr>
          <a:xfrm>
            <a:off x="640080" y="1572768"/>
            <a:ext cx="10881360" cy="365760"/>
          </a:xfrm>
          <a:prstGeom prst="rect">
            <a:avLst/>
          </a:prstGeom>
          <a:noFill/>
          <a:ln/>
        </p:spPr>
        <p:txBody>
          <a:bodyPr wrap="square" lIns="0" tIns="0" rIns="0" bIns="0" rtlCol="0" anchor="ctr"/>
          <a:lstStyle/>
          <a:p>
            <a:pPr indent="0" marL="0">
              <a:buNone/>
            </a:pPr>
            <a:r>
              <a:rPr lang="en-US" sz="1300" i="1" dirty="0">
                <a:solidFill>
                  <a:srgbClr val="A04E40"/>
                </a:solidFill>
                <a:latin typeface="Cairo" pitchFamily="34" charset="0"/>
                <a:ea typeface="Cairo" pitchFamily="34" charset="-122"/>
                <a:cs typeface="Cairo" pitchFamily="34" charset="-120"/>
              </a:rPr>
              <a:t>1941</a:t>
            </a:r>
            <a:endParaRPr lang="en-US" sz="1300" dirty="0"/>
          </a:p>
        </p:txBody>
      </p:sp>
      <p:sp>
        <p:nvSpPr>
          <p:cNvPr id="6" name="Text 4"/>
          <p:cNvSpPr/>
          <p:nvPr/>
        </p:nvSpPr>
        <p:spPr>
          <a:xfrm>
            <a:off x="457200" y="1828800"/>
            <a:ext cx="2194560" cy="2194560"/>
          </a:xfrm>
          <a:prstGeom prst="rect">
            <a:avLst/>
          </a:prstGeom>
          <a:noFill/>
          <a:ln/>
        </p:spPr>
        <p:txBody>
          <a:bodyPr wrap="square" lIns="0" tIns="0" rIns="0" bIns="0" rtlCol="0" anchor="t"/>
          <a:lstStyle/>
          <a:p>
            <a:pPr algn="l" indent="0" marL="0">
              <a:buNone/>
            </a:pPr>
            <a:r>
              <a:rPr lang="en-US" sz="20000" dirty="0">
                <a:solidFill>
                  <a:srgbClr val="ECDDD5"/>
                </a:solidFill>
                <a:latin typeface="Georgia" pitchFamily="34" charset="0"/>
                <a:ea typeface="Georgia" pitchFamily="34" charset="-122"/>
                <a:cs typeface="Georgia" pitchFamily="34" charset="-120"/>
              </a:rPr>
              <a:t>“</a:t>
            </a:r>
            <a:endParaRPr lang="en-US" sz="20000" dirty="0"/>
          </a:p>
        </p:txBody>
      </p:sp>
      <p:sp>
        <p:nvSpPr>
          <p:cNvPr id="7" name="Text 5"/>
          <p:cNvSpPr/>
          <p:nvPr/>
        </p:nvSpPr>
        <p:spPr>
          <a:xfrm>
            <a:off x="1463040" y="2148840"/>
            <a:ext cx="9692640" cy="3931920"/>
          </a:xfrm>
          <a:prstGeom prst="rect">
            <a:avLst/>
          </a:prstGeom>
          <a:noFill/>
          <a:ln/>
        </p:spPr>
        <p:txBody>
          <a:bodyPr wrap="square" lIns="0" tIns="0" rIns="0" bIns="0" rtlCol="0" anchor="t"/>
          <a:lstStyle/>
          <a:p>
            <a:pPr algn="l" indent="0" marL="0">
              <a:lnSpc>
                <a:spcPts val="2400"/>
              </a:lnSpc>
              <a:buNone/>
            </a:pPr>
            <a:r>
              <a:rPr lang="en-US" sz="1600" i="1" dirty="0">
                <a:solidFill>
                  <a:srgbClr val="1E3D47"/>
                </a:solidFill>
                <a:latin typeface="Cairo" pitchFamily="34" charset="0"/>
                <a:ea typeface="Cairo" pitchFamily="34" charset="-122"/>
                <a:cs typeface="Cairo" pitchFamily="34" charset="-120"/>
              </a:rPr>
              <a:t>¿Por qué tenemos nosotros que luchar contra los moros? ¿Por qué tenemos que civilizarlos […] Nosotros, los de Castilla, de Andalucía, que no sabemos leer ni escribir. Tonterías. ¿Quién nos civiliza a nosotros? Nuestros pueblos no tienen escuelas, las casas son de adobes, dormimos con la ropa puesta, en un camastro de tres tablas en la cuadra, al lado de las mulas, para estar calientes. Comemos una cebolla y un mendrugo de pan al amanecer y nos vamos a trabajar en los campos de sol a sol […] Reventamos de hambre y de miseria. El amo nos roba y si nos quejamos, la guardia civil nos muele a palos.</a:t>
            </a:r>
            <a:endParaRPr lang="en-US" sz="1600" dirty="0"/>
          </a:p>
        </p:txBody>
      </p:sp>
      <p:sp>
        <p:nvSpPr>
          <p:cNvPr id="8" name="Text 6"/>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850" spc="200" kern="0" dirty="0">
                <a:solidFill>
                  <a:srgbClr val="B9917C"/>
                </a:solidFill>
                <a:latin typeface="Cairo" pitchFamily="34" charset="0"/>
                <a:ea typeface="Cairo" pitchFamily="34" charset="-122"/>
                <a:cs typeface="Cairo" pitchFamily="34" charset="-120"/>
              </a:rPr>
              <a:t>Sesión 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B"/>
        </a:solidFill>
      </p:bgPr>
    </p:bg>
    <p:spTree>
      <p:nvGrpSpPr>
        <p:cNvPr id="1" name=""/>
        <p:cNvGrpSpPr/>
        <p:nvPr/>
      </p:nvGrpSpPr>
      <p:grpSpPr>
        <a:xfrm>
          <a:off x="0" y="0"/>
          <a:ext cx="0" cy="0"/>
          <a:chOff x="0" y="0"/>
          <a:chExt cx="0" cy="0"/>
        </a:xfrm>
      </p:grpSpPr>
      <p:sp>
        <p:nvSpPr>
          <p:cNvPr id="2" name="Shape 0"/>
          <p:cNvSpPr/>
          <p:nvPr/>
        </p:nvSpPr>
        <p:spPr>
          <a:xfrm>
            <a:off x="640080" y="644652"/>
            <a:ext cx="292608" cy="20117"/>
          </a:xfrm>
          <a:prstGeom prst="rect">
            <a:avLst/>
          </a:prstGeom>
          <a:solidFill>
            <a:srgbClr val="833C30"/>
          </a:solidFill>
          <a:ln/>
        </p:spPr>
      </p:sp>
      <p:sp>
        <p:nvSpPr>
          <p:cNvPr id="3" name="Text 1"/>
          <p:cNvSpPr/>
          <p:nvPr/>
        </p:nvSpPr>
        <p:spPr>
          <a:xfrm>
            <a:off x="1024128" y="566928"/>
            <a:ext cx="7315200" cy="274320"/>
          </a:xfrm>
          <a:prstGeom prst="rect">
            <a:avLst/>
          </a:prstGeom>
          <a:noFill/>
          <a:ln/>
        </p:spPr>
        <p:txBody>
          <a:bodyPr wrap="square" lIns="0" tIns="0" rIns="0" bIns="0" rtlCol="0" anchor="t"/>
          <a:lstStyle/>
          <a:p>
            <a:pPr algn="l" indent="0" marL="0">
              <a:buNone/>
            </a:pPr>
            <a:r>
              <a:rPr lang="en-US" sz="1100" b="1" spc="300" kern="0" dirty="0">
                <a:solidFill>
                  <a:srgbClr val="833C30"/>
                </a:solidFill>
                <a:latin typeface="Cairo" pitchFamily="34" charset="0"/>
                <a:ea typeface="Cairo" pitchFamily="34" charset="-122"/>
                <a:cs typeface="Cairo" pitchFamily="34" charset="-120"/>
              </a:rPr>
              <a:t>FUENTE PRIMARIA 4</a:t>
            </a:r>
            <a:endParaRPr lang="en-US" sz="1100" dirty="0"/>
          </a:p>
        </p:txBody>
      </p:sp>
      <p:sp>
        <p:nvSpPr>
          <p:cNvPr id="4" name="Text 2"/>
          <p:cNvSpPr/>
          <p:nvPr/>
        </p:nvSpPr>
        <p:spPr>
          <a:xfrm>
            <a:off x="603504" y="932688"/>
            <a:ext cx="10972800" cy="1005840"/>
          </a:xfrm>
          <a:prstGeom prst="rect">
            <a:avLst/>
          </a:prstGeom>
          <a:noFill/>
          <a:ln/>
        </p:spPr>
        <p:txBody>
          <a:bodyPr wrap="square" lIns="0" tIns="0" rIns="0" bIns="0" rtlCol="0" anchor="t"/>
          <a:lstStyle/>
          <a:p>
            <a:pPr algn="l" indent="0" marL="0">
              <a:lnSpc>
                <a:spcPts val="3200"/>
              </a:lnSpc>
              <a:buNone/>
            </a:pPr>
            <a:r>
              <a:rPr lang="en-US" sz="2900" b="1" dirty="0">
                <a:solidFill>
                  <a:srgbClr val="1E3D47"/>
                </a:solidFill>
                <a:latin typeface="Cairo" pitchFamily="34" charset="0"/>
                <a:ea typeface="Cairo" pitchFamily="34" charset="-122"/>
                <a:cs typeface="Cairo" pitchFamily="34" charset="-120"/>
              </a:rPr>
              <a:t>El desastre de Annual, julio de 1921</a:t>
            </a:r>
            <a:endParaRPr lang="en-US" sz="2900" dirty="0"/>
          </a:p>
        </p:txBody>
      </p:sp>
      <p:sp>
        <p:nvSpPr>
          <p:cNvPr id="5" name="Text 3"/>
          <p:cNvSpPr/>
          <p:nvPr/>
        </p:nvSpPr>
        <p:spPr>
          <a:xfrm>
            <a:off x="640080" y="1828800"/>
            <a:ext cx="5029200" cy="3200400"/>
          </a:xfrm>
          <a:prstGeom prst="rect">
            <a:avLst/>
          </a:prstGeom>
          <a:noFill/>
          <a:ln/>
        </p:spPr>
        <p:txBody>
          <a:bodyPr wrap="square" lIns="0" tIns="0" rIns="0" bIns="0" rtlCol="0" anchor="t"/>
          <a:lstStyle/>
          <a:p>
            <a:pPr algn="l" indent="0" marL="0">
              <a:lnSpc>
                <a:spcPts val="2200"/>
              </a:lnSpc>
              <a:buNone/>
            </a:pPr>
            <a:r>
              <a:rPr lang="en-US" sz="1600" b="1" dirty="0">
                <a:solidFill>
                  <a:srgbClr val="1E3D47"/>
                </a:solidFill>
                <a:latin typeface="Cairo" pitchFamily="34" charset="0"/>
                <a:ea typeface="Cairo" pitchFamily="34" charset="-122"/>
                <a:cs typeface="Cairo" pitchFamily="34" charset="-120"/>
              </a:rPr>
              <a:t>Testimonio de un veterano marroquí sobre una de las grandes tragedias de la guerra.
</a:t>
            </a:r>
            <a:endParaRPr lang="en-US" sz="1600" dirty="0"/>
          </a:p>
          <a:p>
            <a:pPr algn="l" indent="0" marL="0">
              <a:lnSpc>
                <a:spcPts val="2200"/>
              </a:lnSpc>
              <a:buNone/>
            </a:pPr>
            <a:r>
              <a:rPr lang="en-US" sz="1400" i="1" dirty="0">
                <a:solidFill>
                  <a:srgbClr val="2A5262"/>
                </a:solidFill>
                <a:latin typeface="Cairo" pitchFamily="34" charset="0"/>
                <a:ea typeface="Cairo" pitchFamily="34" charset="-122"/>
                <a:cs typeface="Cairo" pitchFamily="34" charset="-120"/>
              </a:rPr>
              <a:t>Entrevistas con testigos e historiadores en el documental El laberinto marroquí (2007).</a:t>
            </a:r>
            <a:endParaRPr lang="en-US" sz="1600" dirty="0"/>
          </a:p>
        </p:txBody>
      </p:sp>
      <p:sp>
        <p:nvSpPr>
          <p:cNvPr id="6" name="Text 4"/>
          <p:cNvSpPr/>
          <p:nvPr/>
        </p:nvSpPr>
        <p:spPr>
          <a:xfrm>
            <a:off x="640080" y="5029200"/>
            <a:ext cx="2743200" cy="365760"/>
          </a:xfrm>
          <a:prstGeom prst="rect">
            <a:avLst/>
          </a:prstGeom>
          <a:noFill/>
          <a:ln/>
        </p:spPr>
        <p:txBody>
          <a:bodyPr wrap="square" lIns="0" tIns="0" rIns="0" bIns="0" rtlCol="0" anchor="ctr"/>
          <a:lstStyle/>
          <a:p>
            <a:pPr indent="0" marL="0">
              <a:buNone/>
            </a:pPr>
            <a:r>
              <a:rPr lang="en-US" sz="1200" b="1" spc="200" kern="0" dirty="0">
                <a:solidFill>
                  <a:srgbClr val="833C30"/>
                </a:solidFill>
                <a:latin typeface="Cairo" pitchFamily="34" charset="0"/>
                <a:ea typeface="Cairo" pitchFamily="34" charset="-122"/>
                <a:cs typeface="Cairo" pitchFamily="34" charset="-120"/>
              </a:rPr>
              <a:t>▶  Documental</a:t>
            </a:r>
            <a:endParaRPr lang="en-US" sz="1200" dirty="0"/>
          </a:p>
        </p:txBody>
      </p:sp>
      <p:sp>
        <p:nvSpPr>
          <p:cNvPr id="7" name="Shape 5"/>
          <p:cNvSpPr/>
          <p:nvPr/>
        </p:nvSpPr>
        <p:spPr>
          <a:xfrm>
            <a:off x="6163056" y="1728216"/>
            <a:ext cx="5458968" cy="3767328"/>
          </a:xfrm>
          <a:prstGeom prst="rect">
            <a:avLst/>
          </a:prstGeom>
          <a:solidFill>
            <a:srgbClr val="1E3D47"/>
          </a:solidFill>
          <a:ln/>
          <a:effectLst>
            <a:outerShdw sx="100000" sy="100000" kx="0" ky="0" algn="bl" rotWithShape="0" blurRad="114300" dist="50800" dir="5400000">
              <a:srgbClr val="1E3D47">
                <a:alpha val="28000"/>
              </a:srgbClr>
            </a:outerShdw>
          </a:effectLst>
        </p:spPr>
      </p:sp>
      <p:pic>
        <p:nvPicPr>
          <p:cNvPr id="8" name="Image 0" descr="/tmp/assets/video_still_soldiers.jpg">    </p:cNvPr>
          <p:cNvPicPr>
            <a:picLocks noChangeAspect="1"/>
          </p:cNvPicPr>
          <p:nvPr/>
        </p:nvPicPr>
        <p:blipFill>
          <a:blip r:embed="rId1"/>
          <a:srcRect l="0" r="0" t="0" b="0"/>
          <a:stretch/>
        </p:blipFill>
        <p:spPr>
          <a:xfrm>
            <a:off x="6263640" y="1828800"/>
            <a:ext cx="5257800" cy="3566160"/>
          </a:xfrm>
          <a:prstGeom prst="rect">
            <a:avLst/>
          </a:prstGeom>
        </p:spPr>
      </p:pic>
      <p:sp>
        <p:nvSpPr>
          <p:cNvPr id="9" name="Text 6"/>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850" spc="200" kern="0" dirty="0">
                <a:solidFill>
                  <a:srgbClr val="B9917C"/>
                </a:solidFill>
                <a:latin typeface="Cairo" pitchFamily="34" charset="0"/>
                <a:ea typeface="Cairo" pitchFamily="34" charset="-122"/>
                <a:cs typeface="Cairo" pitchFamily="34" charset="-120"/>
              </a:rPr>
              <a:t>Sesión 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0EB"/>
        </a:solidFill>
      </p:bgPr>
    </p:bg>
    <p:spTree>
      <p:nvGrpSpPr>
        <p:cNvPr id="1" name=""/>
        <p:cNvGrpSpPr/>
        <p:nvPr/>
      </p:nvGrpSpPr>
      <p:grpSpPr>
        <a:xfrm>
          <a:off x="0" y="0"/>
          <a:ext cx="0" cy="0"/>
          <a:chOff x="0" y="0"/>
          <a:chExt cx="0" cy="0"/>
        </a:xfrm>
      </p:grpSpPr>
      <p:sp>
        <p:nvSpPr>
          <p:cNvPr id="2" name="Shape 0"/>
          <p:cNvSpPr/>
          <p:nvPr/>
        </p:nvSpPr>
        <p:spPr>
          <a:xfrm>
            <a:off x="640080" y="644652"/>
            <a:ext cx="292608" cy="20117"/>
          </a:xfrm>
          <a:prstGeom prst="rect">
            <a:avLst/>
          </a:prstGeom>
          <a:solidFill>
            <a:srgbClr val="833C30"/>
          </a:solidFill>
          <a:ln/>
        </p:spPr>
      </p:sp>
      <p:sp>
        <p:nvSpPr>
          <p:cNvPr id="3" name="Text 1"/>
          <p:cNvSpPr/>
          <p:nvPr/>
        </p:nvSpPr>
        <p:spPr>
          <a:xfrm>
            <a:off x="1024128" y="566928"/>
            <a:ext cx="7315200" cy="274320"/>
          </a:xfrm>
          <a:prstGeom prst="rect">
            <a:avLst/>
          </a:prstGeom>
          <a:noFill/>
          <a:ln/>
        </p:spPr>
        <p:txBody>
          <a:bodyPr wrap="square" lIns="0" tIns="0" rIns="0" bIns="0" rtlCol="0" anchor="t"/>
          <a:lstStyle/>
          <a:p>
            <a:pPr algn="l" indent="0" marL="0">
              <a:buNone/>
            </a:pPr>
            <a:r>
              <a:rPr lang="en-US" sz="1100" b="1" spc="300" kern="0" dirty="0">
                <a:solidFill>
                  <a:srgbClr val="833C30"/>
                </a:solidFill>
                <a:latin typeface="Cairo" pitchFamily="34" charset="0"/>
                <a:ea typeface="Cairo" pitchFamily="34" charset="-122"/>
                <a:cs typeface="Cairo" pitchFamily="34" charset="-120"/>
              </a:rPr>
              <a:t>FUENTE PRIMARIA 5</a:t>
            </a:r>
            <a:endParaRPr lang="en-US" sz="1100" dirty="0"/>
          </a:p>
        </p:txBody>
      </p:sp>
      <p:sp>
        <p:nvSpPr>
          <p:cNvPr id="4" name="Text 2"/>
          <p:cNvSpPr/>
          <p:nvPr/>
        </p:nvSpPr>
        <p:spPr>
          <a:xfrm>
            <a:off x="603504" y="932688"/>
            <a:ext cx="10972800" cy="1005840"/>
          </a:xfrm>
          <a:prstGeom prst="rect">
            <a:avLst/>
          </a:prstGeom>
          <a:noFill/>
          <a:ln/>
        </p:spPr>
        <p:txBody>
          <a:bodyPr wrap="square" lIns="0" tIns="0" rIns="0" bIns="0" rtlCol="0" anchor="t"/>
          <a:lstStyle/>
          <a:p>
            <a:pPr algn="l" indent="0" marL="0">
              <a:lnSpc>
                <a:spcPts val="3200"/>
              </a:lnSpc>
              <a:buNone/>
            </a:pPr>
            <a:r>
              <a:rPr lang="en-US" sz="2900" b="1" dirty="0">
                <a:solidFill>
                  <a:srgbClr val="1E3D47"/>
                </a:solidFill>
                <a:latin typeface="Cairo" pitchFamily="34" charset="0"/>
                <a:ea typeface="Cairo" pitchFamily="34" charset="-122"/>
                <a:cs typeface="Cairo" pitchFamily="34" charset="-120"/>
              </a:rPr>
              <a:t>Diario de Barcelona — Crónicas de Juan Luque</a:t>
            </a:r>
            <a:endParaRPr lang="en-US" sz="2900" dirty="0"/>
          </a:p>
        </p:txBody>
      </p:sp>
      <p:sp>
        <p:nvSpPr>
          <p:cNvPr id="5" name="Text 3"/>
          <p:cNvSpPr/>
          <p:nvPr/>
        </p:nvSpPr>
        <p:spPr>
          <a:xfrm>
            <a:off x="640080" y="1572768"/>
            <a:ext cx="6400800" cy="365760"/>
          </a:xfrm>
          <a:prstGeom prst="rect">
            <a:avLst/>
          </a:prstGeom>
          <a:noFill/>
          <a:ln/>
        </p:spPr>
        <p:txBody>
          <a:bodyPr wrap="square" lIns="0" tIns="0" rIns="0" bIns="0" rtlCol="0" anchor="ctr"/>
          <a:lstStyle/>
          <a:p>
            <a:pPr indent="0" marL="0">
              <a:buNone/>
            </a:pPr>
            <a:r>
              <a:rPr lang="en-US" sz="1300" i="1" dirty="0">
                <a:solidFill>
                  <a:srgbClr val="A04E40"/>
                </a:solidFill>
                <a:latin typeface="Cairo" pitchFamily="34" charset="0"/>
                <a:ea typeface="Cairo" pitchFamily="34" charset="-122"/>
                <a:cs typeface="Cairo" pitchFamily="34" charset="-120"/>
              </a:rPr>
              <a:t>Monte Arruit, 24 de octubre de 1921</a:t>
            </a:r>
            <a:endParaRPr lang="en-US" sz="1300" dirty="0"/>
          </a:p>
        </p:txBody>
      </p:sp>
      <p:sp>
        <p:nvSpPr>
          <p:cNvPr id="6" name="Text 4"/>
          <p:cNvSpPr/>
          <p:nvPr/>
        </p:nvSpPr>
        <p:spPr>
          <a:xfrm>
            <a:off x="457200" y="1874520"/>
            <a:ext cx="2194560" cy="2194560"/>
          </a:xfrm>
          <a:prstGeom prst="rect">
            <a:avLst/>
          </a:prstGeom>
          <a:noFill/>
          <a:ln/>
        </p:spPr>
        <p:txBody>
          <a:bodyPr wrap="square" lIns="0" tIns="0" rIns="0" bIns="0" rtlCol="0" anchor="t"/>
          <a:lstStyle/>
          <a:p>
            <a:pPr algn="l" indent="0" marL="0">
              <a:buNone/>
            </a:pPr>
            <a:r>
              <a:rPr lang="en-US" sz="20000" dirty="0">
                <a:solidFill>
                  <a:srgbClr val="ECDDD5"/>
                </a:solidFill>
                <a:latin typeface="Georgia" pitchFamily="34" charset="0"/>
                <a:ea typeface="Georgia" pitchFamily="34" charset="-122"/>
                <a:cs typeface="Georgia" pitchFamily="34" charset="-120"/>
              </a:rPr>
              <a:t>“</a:t>
            </a:r>
            <a:endParaRPr lang="en-US" sz="20000" dirty="0"/>
          </a:p>
        </p:txBody>
      </p:sp>
      <p:sp>
        <p:nvSpPr>
          <p:cNvPr id="7" name="Text 5"/>
          <p:cNvSpPr/>
          <p:nvPr/>
        </p:nvSpPr>
        <p:spPr>
          <a:xfrm>
            <a:off x="1417320" y="2286000"/>
            <a:ext cx="5120640" cy="3108960"/>
          </a:xfrm>
          <a:prstGeom prst="rect">
            <a:avLst/>
          </a:prstGeom>
          <a:noFill/>
          <a:ln/>
        </p:spPr>
        <p:txBody>
          <a:bodyPr wrap="square" lIns="0" tIns="0" rIns="0" bIns="0" rtlCol="0" anchor="t"/>
          <a:lstStyle/>
          <a:p>
            <a:pPr algn="l" indent="0" marL="0">
              <a:lnSpc>
                <a:spcPts val="2600"/>
              </a:lnSpc>
              <a:buNone/>
            </a:pPr>
            <a:r>
              <a:rPr lang="en-US" sz="1800" i="1" dirty="0">
                <a:solidFill>
                  <a:srgbClr val="1E3D47"/>
                </a:solidFill>
                <a:latin typeface="Cairo" pitchFamily="34" charset="0"/>
                <a:ea typeface="Cairo" pitchFamily="34" charset="-122"/>
                <a:cs typeface="Cairo" pitchFamily="34" charset="-120"/>
              </a:rPr>
              <a:t>Dos mil y pico de hombres, de españoles, de cristianos muertos, sin enterrar, mutilados, quemados… No se concibe tanta barbarie. No se puede explicar tanto horror.</a:t>
            </a:r>
            <a:endParaRPr lang="en-US" sz="1800" dirty="0"/>
          </a:p>
        </p:txBody>
      </p:sp>
      <p:sp>
        <p:nvSpPr>
          <p:cNvPr id="8" name="Shape 6"/>
          <p:cNvSpPr/>
          <p:nvPr/>
        </p:nvSpPr>
        <p:spPr>
          <a:xfrm>
            <a:off x="7534656" y="1499616"/>
            <a:ext cx="3493008" cy="4544568"/>
          </a:xfrm>
          <a:prstGeom prst="rect">
            <a:avLst/>
          </a:prstGeom>
          <a:solidFill>
            <a:srgbClr val="1E3D47"/>
          </a:solidFill>
          <a:ln/>
          <a:effectLst>
            <a:outerShdw sx="100000" sy="100000" kx="0" ky="0" algn="bl" rotWithShape="0" blurRad="114300" dist="50800" dir="5400000">
              <a:srgbClr val="1E3D47">
                <a:alpha val="28000"/>
              </a:srgbClr>
            </a:outerShdw>
          </a:effectLst>
        </p:spPr>
      </p:sp>
      <p:pic>
        <p:nvPicPr>
          <p:cNvPr id="9" name="Image 0" descr="/tmp/assets/monte_arruit_texto.jpg">    </p:cNvPr>
          <p:cNvPicPr>
            <a:picLocks noChangeAspect="1"/>
          </p:cNvPicPr>
          <p:nvPr/>
        </p:nvPicPr>
        <p:blipFill>
          <a:blip r:embed="rId1"/>
          <a:srcRect l="0" r="0" t="0" b="0"/>
          <a:stretch/>
        </p:blipFill>
        <p:spPr>
          <a:xfrm>
            <a:off x="7635240" y="1600200"/>
            <a:ext cx="3291840" cy="4343400"/>
          </a:xfrm>
          <a:prstGeom prst="rect">
            <a:avLst/>
          </a:prstGeom>
        </p:spPr>
      </p:pic>
      <p:sp>
        <p:nvSpPr>
          <p:cNvPr id="10" name="Text 7"/>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850" spc="200" kern="0" dirty="0">
                <a:solidFill>
                  <a:srgbClr val="B9917C"/>
                </a:solidFill>
                <a:latin typeface="Cairo" pitchFamily="34" charset="0"/>
                <a:ea typeface="Cairo" pitchFamily="34" charset="-122"/>
                <a:cs typeface="Cairo" pitchFamily="34" charset="-120"/>
              </a:rPr>
              <a:t>Sesión 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0EB"/>
        </a:solidFill>
      </p:bgPr>
    </p:bg>
    <p:spTree>
      <p:nvGrpSpPr>
        <p:cNvPr id="1" name=""/>
        <p:cNvGrpSpPr/>
        <p:nvPr/>
      </p:nvGrpSpPr>
      <p:grpSpPr>
        <a:xfrm>
          <a:off x="0" y="0"/>
          <a:ext cx="0" cy="0"/>
          <a:chOff x="0" y="0"/>
          <a:chExt cx="0" cy="0"/>
        </a:xfrm>
      </p:grpSpPr>
      <p:sp>
        <p:nvSpPr>
          <p:cNvPr id="2" name="Shape 0"/>
          <p:cNvSpPr/>
          <p:nvPr/>
        </p:nvSpPr>
        <p:spPr>
          <a:xfrm>
            <a:off x="640080" y="644652"/>
            <a:ext cx="292608" cy="20117"/>
          </a:xfrm>
          <a:prstGeom prst="rect">
            <a:avLst/>
          </a:prstGeom>
          <a:solidFill>
            <a:srgbClr val="833C30"/>
          </a:solidFill>
          <a:ln/>
        </p:spPr>
      </p:sp>
      <p:sp>
        <p:nvSpPr>
          <p:cNvPr id="3" name="Text 1"/>
          <p:cNvSpPr/>
          <p:nvPr/>
        </p:nvSpPr>
        <p:spPr>
          <a:xfrm>
            <a:off x="1024128" y="566928"/>
            <a:ext cx="7315200" cy="274320"/>
          </a:xfrm>
          <a:prstGeom prst="rect">
            <a:avLst/>
          </a:prstGeom>
          <a:noFill/>
          <a:ln/>
        </p:spPr>
        <p:txBody>
          <a:bodyPr wrap="square" lIns="0" tIns="0" rIns="0" bIns="0" rtlCol="0" anchor="t"/>
          <a:lstStyle/>
          <a:p>
            <a:pPr algn="l" indent="0" marL="0">
              <a:buNone/>
            </a:pPr>
            <a:r>
              <a:rPr lang="en-US" sz="1100" b="1" spc="300" kern="0" dirty="0">
                <a:solidFill>
                  <a:srgbClr val="833C30"/>
                </a:solidFill>
                <a:latin typeface="Cairo" pitchFamily="34" charset="0"/>
                <a:ea typeface="Cairo" pitchFamily="34" charset="-122"/>
                <a:cs typeface="Cairo" pitchFamily="34" charset="-120"/>
              </a:rPr>
              <a:t>FUENTE PRIMARIA 6</a:t>
            </a:r>
            <a:endParaRPr lang="en-US" sz="1100" dirty="0"/>
          </a:p>
        </p:txBody>
      </p:sp>
      <p:sp>
        <p:nvSpPr>
          <p:cNvPr id="4" name="Text 2"/>
          <p:cNvSpPr/>
          <p:nvPr/>
        </p:nvSpPr>
        <p:spPr>
          <a:xfrm>
            <a:off x="603504" y="932688"/>
            <a:ext cx="10972800" cy="1005840"/>
          </a:xfrm>
          <a:prstGeom prst="rect">
            <a:avLst/>
          </a:prstGeom>
          <a:noFill/>
          <a:ln/>
        </p:spPr>
        <p:txBody>
          <a:bodyPr wrap="square" lIns="0" tIns="0" rIns="0" bIns="0" rtlCol="0" anchor="t"/>
          <a:lstStyle/>
          <a:p>
            <a:pPr algn="l" indent="0" marL="0">
              <a:lnSpc>
                <a:spcPts val="3200"/>
              </a:lnSpc>
              <a:buNone/>
            </a:pPr>
            <a:r>
              <a:rPr lang="en-US" sz="2900" b="1" dirty="0">
                <a:solidFill>
                  <a:srgbClr val="1E3D47"/>
                </a:solidFill>
                <a:latin typeface="Cairo" pitchFamily="34" charset="0"/>
                <a:ea typeface="Cairo" pitchFamily="34" charset="-122"/>
                <a:cs typeface="Cairo" pitchFamily="34" charset="-120"/>
              </a:rPr>
              <a:t>«El Moro amigo» — Echea, 1921</a:t>
            </a:r>
            <a:endParaRPr lang="en-US" sz="2900" dirty="0"/>
          </a:p>
        </p:txBody>
      </p:sp>
      <p:sp>
        <p:nvSpPr>
          <p:cNvPr id="5" name="Text 3"/>
          <p:cNvSpPr/>
          <p:nvPr/>
        </p:nvSpPr>
        <p:spPr>
          <a:xfrm>
            <a:off x="640080" y="1828800"/>
            <a:ext cx="4754880" cy="2743200"/>
          </a:xfrm>
          <a:prstGeom prst="rect">
            <a:avLst/>
          </a:prstGeom>
          <a:noFill/>
          <a:ln/>
        </p:spPr>
        <p:txBody>
          <a:bodyPr wrap="square" lIns="0" tIns="0" rIns="0" bIns="0" rtlCol="0" anchor="t"/>
          <a:lstStyle/>
          <a:p>
            <a:pPr algn="l" indent="0" marL="0">
              <a:lnSpc>
                <a:spcPts val="2400"/>
              </a:lnSpc>
              <a:buNone/>
            </a:pPr>
            <a:r>
              <a:rPr lang="en-US" sz="1600" dirty="0">
                <a:solidFill>
                  <a:srgbClr val="2A5262"/>
                </a:solidFill>
                <a:latin typeface="Cairo" pitchFamily="34" charset="0"/>
                <a:ea typeface="Cairo" pitchFamily="34" charset="-122"/>
                <a:cs typeface="Cairo" pitchFamily="34" charset="-120"/>
              </a:rPr>
              <a:t>Las imágenes de prensa moldearon la mirada española sobre el norte de África y sus habitantes.</a:t>
            </a:r>
            <a:endParaRPr lang="en-US" sz="1600" dirty="0"/>
          </a:p>
        </p:txBody>
      </p:sp>
      <p:sp>
        <p:nvSpPr>
          <p:cNvPr id="6" name="Shape 4"/>
          <p:cNvSpPr/>
          <p:nvPr/>
        </p:nvSpPr>
        <p:spPr>
          <a:xfrm>
            <a:off x="6940296" y="1591056"/>
            <a:ext cx="3493008" cy="4544568"/>
          </a:xfrm>
          <a:prstGeom prst="rect">
            <a:avLst/>
          </a:prstGeom>
          <a:solidFill>
            <a:srgbClr val="833C30"/>
          </a:solidFill>
          <a:ln/>
          <a:effectLst>
            <a:outerShdw sx="100000" sy="100000" kx="0" ky="0" algn="bl" rotWithShape="0" blurRad="114300" dist="50800" dir="5400000">
              <a:srgbClr val="1E3D47">
                <a:alpha val="28000"/>
              </a:srgbClr>
            </a:outerShdw>
          </a:effectLst>
        </p:spPr>
      </p:sp>
      <p:pic>
        <p:nvPicPr>
          <p:cNvPr id="7" name="Image 0" descr="/tmp/assets/moro_amigo.png">    </p:cNvPr>
          <p:cNvPicPr>
            <a:picLocks noChangeAspect="1"/>
          </p:cNvPicPr>
          <p:nvPr/>
        </p:nvPicPr>
        <p:blipFill>
          <a:blip r:embed="rId1"/>
          <a:srcRect l="0" r="0" t="0" b="0"/>
          <a:stretch/>
        </p:blipFill>
        <p:spPr>
          <a:xfrm>
            <a:off x="7040880" y="1691640"/>
            <a:ext cx="3291840" cy="4343400"/>
          </a:xfrm>
          <a:prstGeom prst="rect">
            <a:avLst/>
          </a:prstGeom>
        </p:spPr>
      </p:pic>
      <p:sp>
        <p:nvSpPr>
          <p:cNvPr id="8" name="Text 5"/>
          <p:cNvSpPr/>
          <p:nvPr/>
        </p:nvSpPr>
        <p:spPr>
          <a:xfrm>
            <a:off x="7040880" y="6126480"/>
            <a:ext cx="3291840" cy="457200"/>
          </a:xfrm>
          <a:prstGeom prst="rect">
            <a:avLst/>
          </a:prstGeom>
          <a:noFill/>
          <a:ln/>
        </p:spPr>
        <p:txBody>
          <a:bodyPr wrap="square" lIns="0" tIns="0" rIns="0" bIns="0" rtlCol="0" anchor="t"/>
          <a:lstStyle/>
          <a:p>
            <a:pPr algn="l" indent="0" marL="0">
              <a:buNone/>
            </a:pPr>
            <a:r>
              <a:rPr lang="en-US" sz="1050" i="1" dirty="0">
                <a:solidFill>
                  <a:srgbClr val="366875"/>
                </a:solidFill>
                <a:latin typeface="Cairo" pitchFamily="34" charset="0"/>
                <a:ea typeface="Cairo" pitchFamily="34" charset="-122"/>
                <a:cs typeface="Cairo" pitchFamily="34" charset="-120"/>
              </a:rPr>
              <a:t>«Tristes lecciones de la guerra»</a:t>
            </a:r>
            <a:endParaRPr lang="en-US" sz="1050" dirty="0"/>
          </a:p>
        </p:txBody>
      </p:sp>
      <p:sp>
        <p:nvSpPr>
          <p:cNvPr id="9" name="Text 6"/>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850" spc="200" kern="0" dirty="0">
                <a:solidFill>
                  <a:srgbClr val="B9917C"/>
                </a:solidFill>
                <a:latin typeface="Cairo" pitchFamily="34" charset="0"/>
                <a:ea typeface="Cairo" pitchFamily="34" charset="-122"/>
                <a:cs typeface="Cairo" pitchFamily="34" charset="-120"/>
              </a:rPr>
              <a:t>Sesión 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0EB"/>
        </a:solidFill>
      </p:bgPr>
    </p:bg>
    <p:spTree>
      <p:nvGrpSpPr>
        <p:cNvPr id="1" name=""/>
        <p:cNvGrpSpPr/>
        <p:nvPr/>
      </p:nvGrpSpPr>
      <p:grpSpPr>
        <a:xfrm>
          <a:off x="0" y="0"/>
          <a:ext cx="0" cy="0"/>
          <a:chOff x="0" y="0"/>
          <a:chExt cx="0" cy="0"/>
        </a:xfrm>
      </p:grpSpPr>
      <p:sp>
        <p:nvSpPr>
          <p:cNvPr id="2" name="Shape 0"/>
          <p:cNvSpPr/>
          <p:nvPr/>
        </p:nvSpPr>
        <p:spPr>
          <a:xfrm>
            <a:off x="640080" y="644652"/>
            <a:ext cx="292608" cy="20117"/>
          </a:xfrm>
          <a:prstGeom prst="rect">
            <a:avLst/>
          </a:prstGeom>
          <a:solidFill>
            <a:srgbClr val="833C30"/>
          </a:solidFill>
          <a:ln/>
        </p:spPr>
      </p:sp>
      <p:sp>
        <p:nvSpPr>
          <p:cNvPr id="3" name="Text 1"/>
          <p:cNvSpPr/>
          <p:nvPr/>
        </p:nvSpPr>
        <p:spPr>
          <a:xfrm>
            <a:off x="1024128" y="566928"/>
            <a:ext cx="7315200" cy="274320"/>
          </a:xfrm>
          <a:prstGeom prst="rect">
            <a:avLst/>
          </a:prstGeom>
          <a:noFill/>
          <a:ln/>
        </p:spPr>
        <p:txBody>
          <a:bodyPr wrap="square" lIns="0" tIns="0" rIns="0" bIns="0" rtlCol="0" anchor="t"/>
          <a:lstStyle/>
          <a:p>
            <a:pPr algn="l" indent="0" marL="0">
              <a:buNone/>
            </a:pPr>
            <a:r>
              <a:rPr lang="en-US" sz="1100" b="1" spc="300" kern="0" dirty="0">
                <a:solidFill>
                  <a:srgbClr val="833C30"/>
                </a:solidFill>
                <a:latin typeface="Cairo" pitchFamily="34" charset="0"/>
                <a:ea typeface="Cairo" pitchFamily="34" charset="-122"/>
                <a:cs typeface="Cairo" pitchFamily="34" charset="-120"/>
              </a:rPr>
              <a:t>TESTIMONIOS</a:t>
            </a:r>
            <a:endParaRPr lang="en-US" sz="1100" dirty="0"/>
          </a:p>
        </p:txBody>
      </p:sp>
      <p:sp>
        <p:nvSpPr>
          <p:cNvPr id="4" name="Text 2"/>
          <p:cNvSpPr/>
          <p:nvPr/>
        </p:nvSpPr>
        <p:spPr>
          <a:xfrm>
            <a:off x="603504" y="932688"/>
            <a:ext cx="10972800" cy="1005840"/>
          </a:xfrm>
          <a:prstGeom prst="rect">
            <a:avLst/>
          </a:prstGeom>
          <a:noFill/>
          <a:ln/>
        </p:spPr>
        <p:txBody>
          <a:bodyPr wrap="square" lIns="0" tIns="0" rIns="0" bIns="0" rtlCol="0" anchor="t"/>
          <a:lstStyle/>
          <a:p>
            <a:pPr algn="l" indent="0" marL="0">
              <a:lnSpc>
                <a:spcPts val="3200"/>
              </a:lnSpc>
              <a:buNone/>
            </a:pPr>
            <a:r>
              <a:rPr lang="en-US" sz="2900" b="1" dirty="0">
                <a:solidFill>
                  <a:srgbClr val="1E3D47"/>
                </a:solidFill>
                <a:latin typeface="Cairo" pitchFamily="34" charset="0"/>
                <a:ea typeface="Cairo" pitchFamily="34" charset="-122"/>
                <a:cs typeface="Cairo" pitchFamily="34" charset="-120"/>
              </a:rPr>
              <a:t>El uso de armas químicas contra la población civil del Rif</a:t>
            </a:r>
            <a:endParaRPr lang="en-US" sz="2900" dirty="0"/>
          </a:p>
        </p:txBody>
      </p:sp>
      <p:sp>
        <p:nvSpPr>
          <p:cNvPr id="5" name="Text 3"/>
          <p:cNvSpPr/>
          <p:nvPr/>
        </p:nvSpPr>
        <p:spPr>
          <a:xfrm>
            <a:off x="640080" y="1874520"/>
            <a:ext cx="5029200" cy="2743200"/>
          </a:xfrm>
          <a:prstGeom prst="rect">
            <a:avLst/>
          </a:prstGeom>
          <a:noFill/>
          <a:ln/>
        </p:spPr>
        <p:txBody>
          <a:bodyPr wrap="square" lIns="0" tIns="0" rIns="0" bIns="0" rtlCol="0" anchor="t"/>
          <a:lstStyle/>
          <a:p>
            <a:pPr algn="l" indent="0" marL="0">
              <a:lnSpc>
                <a:spcPts val="2400"/>
              </a:lnSpc>
              <a:buNone/>
            </a:pPr>
            <a:r>
              <a:rPr lang="en-US" sz="1600" dirty="0">
                <a:solidFill>
                  <a:srgbClr val="2A5262"/>
                </a:solidFill>
                <a:latin typeface="Cairo" pitchFamily="34" charset="0"/>
                <a:ea typeface="Cairo" pitchFamily="34" charset="-122"/>
                <a:cs typeface="Cairo" pitchFamily="34" charset="-120"/>
              </a:rPr>
              <a:t>Entrevistas con testigos sobre uno de los capítulos más silenciados de la guerra.</a:t>
            </a:r>
            <a:endParaRPr lang="en-US" sz="1600" dirty="0"/>
          </a:p>
        </p:txBody>
      </p:sp>
      <p:sp>
        <p:nvSpPr>
          <p:cNvPr id="6" name="Shape 4"/>
          <p:cNvSpPr/>
          <p:nvPr/>
        </p:nvSpPr>
        <p:spPr>
          <a:xfrm>
            <a:off x="6163056" y="1773936"/>
            <a:ext cx="5458968" cy="3767328"/>
          </a:xfrm>
          <a:prstGeom prst="rect">
            <a:avLst/>
          </a:prstGeom>
          <a:solidFill>
            <a:srgbClr val="1E3D47"/>
          </a:solidFill>
          <a:ln/>
          <a:effectLst>
            <a:outerShdw sx="100000" sy="100000" kx="0" ky="0" algn="bl" rotWithShape="0" blurRad="114300" dist="50800" dir="5400000">
              <a:srgbClr val="1E3D47">
                <a:alpha val="28000"/>
              </a:srgbClr>
            </a:outerShdw>
          </a:effectLst>
        </p:spPr>
      </p:sp>
      <p:pic>
        <p:nvPicPr>
          <p:cNvPr id="7" name="Image 0" descr="/tmp/assets/video_still_soldiers.jpg">    </p:cNvPr>
          <p:cNvPicPr>
            <a:picLocks noChangeAspect="1"/>
          </p:cNvPicPr>
          <p:nvPr/>
        </p:nvPicPr>
        <p:blipFill>
          <a:blip r:embed="rId1"/>
          <a:srcRect l="0" r="0" t="0" b="0"/>
          <a:stretch/>
        </p:blipFill>
        <p:spPr>
          <a:xfrm>
            <a:off x="6263640" y="1874520"/>
            <a:ext cx="5257800" cy="3566160"/>
          </a:xfrm>
          <a:prstGeom prst="rect">
            <a:avLst/>
          </a:prstGeom>
        </p:spPr>
      </p:pic>
      <p:sp>
        <p:nvSpPr>
          <p:cNvPr id="8" name="Text 5"/>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850" spc="200" kern="0" dirty="0">
                <a:solidFill>
                  <a:srgbClr val="B9917C"/>
                </a:solidFill>
                <a:latin typeface="Cairo" pitchFamily="34" charset="0"/>
                <a:ea typeface="Cairo" pitchFamily="34" charset="-122"/>
                <a:cs typeface="Cairo" pitchFamily="34" charset="-120"/>
              </a:rPr>
              <a:t>Sesión 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D47"/>
        </a:solidFill>
      </p:bgPr>
    </p:bg>
    <p:spTree>
      <p:nvGrpSpPr>
        <p:cNvPr id="1" name=""/>
        <p:cNvGrpSpPr/>
        <p:nvPr/>
      </p:nvGrpSpPr>
      <p:grpSpPr>
        <a:xfrm>
          <a:off x="0" y="0"/>
          <a:ext cx="0" cy="0"/>
          <a:chOff x="0" y="0"/>
          <a:chExt cx="0" cy="0"/>
        </a:xfrm>
      </p:grpSpPr>
      <p:pic>
        <p:nvPicPr>
          <p:cNvPr id="2" name="Image 0" descr="/tmp/assets/logo_gold.png">    </p:cNvPr>
          <p:cNvPicPr>
            <a:picLocks noChangeAspect="1"/>
          </p:cNvPicPr>
          <p:nvPr/>
        </p:nvPicPr>
        <p:blipFill>
          <a:blip r:embed="rId1"/>
          <a:stretch>
            <a:fillRect/>
          </a:stretch>
        </p:blipFill>
        <p:spPr>
          <a:xfrm>
            <a:off x="640080" y="548640"/>
            <a:ext cx="566928" cy="566928"/>
          </a:xfrm>
          <a:prstGeom prst="rect">
            <a:avLst/>
          </a:prstGeom>
        </p:spPr>
      </p:pic>
      <p:sp>
        <p:nvSpPr>
          <p:cNvPr id="3" name="Shape 0"/>
          <p:cNvSpPr/>
          <p:nvPr/>
        </p:nvSpPr>
        <p:spPr>
          <a:xfrm>
            <a:off x="1371600" y="790956"/>
            <a:ext cx="292608" cy="20117"/>
          </a:xfrm>
          <a:prstGeom prst="rect">
            <a:avLst/>
          </a:prstGeom>
          <a:solidFill>
            <a:srgbClr val="B9917C"/>
          </a:solidFill>
          <a:ln/>
        </p:spPr>
      </p:sp>
      <p:sp>
        <p:nvSpPr>
          <p:cNvPr id="4" name="Text 1"/>
          <p:cNvSpPr/>
          <p:nvPr/>
        </p:nvSpPr>
        <p:spPr>
          <a:xfrm>
            <a:off x="1755648" y="713232"/>
            <a:ext cx="7315200" cy="274320"/>
          </a:xfrm>
          <a:prstGeom prst="rect">
            <a:avLst/>
          </a:prstGeom>
          <a:noFill/>
          <a:ln/>
        </p:spPr>
        <p:txBody>
          <a:bodyPr wrap="square" lIns="0" tIns="0" rIns="0" bIns="0" rtlCol="0" anchor="t"/>
          <a:lstStyle/>
          <a:p>
            <a:pPr algn="l" indent="0" marL="0">
              <a:buNone/>
            </a:pPr>
            <a:r>
              <a:rPr lang="en-US" sz="1100" b="1" spc="300" kern="0" dirty="0">
                <a:solidFill>
                  <a:srgbClr val="B9917C"/>
                </a:solidFill>
                <a:latin typeface="Cairo" pitchFamily="34" charset="0"/>
                <a:ea typeface="Cairo" pitchFamily="34" charset="-122"/>
                <a:cs typeface="Cairo" pitchFamily="34" charset="-120"/>
              </a:rPr>
              <a:t>PARA DEBATIR</a:t>
            </a:r>
            <a:endParaRPr lang="en-US" sz="1100" dirty="0"/>
          </a:p>
        </p:txBody>
      </p:sp>
      <p:sp>
        <p:nvSpPr>
          <p:cNvPr id="5" name="Text 2"/>
          <p:cNvSpPr/>
          <p:nvPr/>
        </p:nvSpPr>
        <p:spPr>
          <a:xfrm>
            <a:off x="640080" y="2011680"/>
            <a:ext cx="914400" cy="640080"/>
          </a:xfrm>
          <a:prstGeom prst="rect">
            <a:avLst/>
          </a:prstGeom>
          <a:noFill/>
          <a:ln/>
        </p:spPr>
        <p:txBody>
          <a:bodyPr wrap="square" lIns="0" tIns="0" rIns="0" bIns="0" rtlCol="0" anchor="t"/>
          <a:lstStyle/>
          <a:p>
            <a:pPr algn="l" indent="0" marL="0">
              <a:buNone/>
            </a:pPr>
            <a:r>
              <a:rPr lang="en-US" sz="2000" b="1" dirty="0">
                <a:solidFill>
                  <a:srgbClr val="B9917C"/>
                </a:solidFill>
                <a:latin typeface="Cairo" pitchFamily="34" charset="0"/>
                <a:ea typeface="Cairo" pitchFamily="34" charset="-122"/>
                <a:cs typeface="Cairo" pitchFamily="34" charset="-120"/>
              </a:rPr>
              <a:t>01</a:t>
            </a:r>
            <a:endParaRPr lang="en-US" sz="2000" dirty="0"/>
          </a:p>
        </p:txBody>
      </p:sp>
      <p:sp>
        <p:nvSpPr>
          <p:cNvPr id="6" name="Text 3"/>
          <p:cNvSpPr/>
          <p:nvPr/>
        </p:nvSpPr>
        <p:spPr>
          <a:xfrm>
            <a:off x="1600200" y="2011680"/>
            <a:ext cx="9692640" cy="1737360"/>
          </a:xfrm>
          <a:prstGeom prst="rect">
            <a:avLst/>
          </a:prstGeom>
          <a:noFill/>
          <a:ln/>
        </p:spPr>
        <p:txBody>
          <a:bodyPr wrap="square" lIns="0" tIns="0" rIns="0" bIns="0" rtlCol="0" anchor="t"/>
          <a:lstStyle/>
          <a:p>
            <a:pPr algn="l" indent="0" marL="0">
              <a:lnSpc>
                <a:spcPts val="2800"/>
              </a:lnSpc>
              <a:buNone/>
            </a:pPr>
            <a:r>
              <a:rPr lang="en-US" sz="2100" b="1" dirty="0">
                <a:solidFill>
                  <a:srgbClr val="FDFAF7"/>
                </a:solidFill>
                <a:latin typeface="Cairo" pitchFamily="34" charset="0"/>
                <a:ea typeface="Cairo" pitchFamily="34" charset="-122"/>
                <a:cs typeface="Cairo" pitchFamily="34" charset="-120"/>
              </a:rPr>
              <a:t>¿Cómo creemos que deberíamos recordar, como sociedad multicultural, el pasado colonial de España en Marruecos?</a:t>
            </a:r>
            <a:endParaRPr lang="en-US" sz="2100" dirty="0"/>
          </a:p>
        </p:txBody>
      </p:sp>
      <p:sp>
        <p:nvSpPr>
          <p:cNvPr id="7" name="Text 4"/>
          <p:cNvSpPr/>
          <p:nvPr/>
        </p:nvSpPr>
        <p:spPr>
          <a:xfrm>
            <a:off x="640080" y="3429000"/>
            <a:ext cx="914400" cy="640080"/>
          </a:xfrm>
          <a:prstGeom prst="rect">
            <a:avLst/>
          </a:prstGeom>
          <a:noFill/>
          <a:ln/>
        </p:spPr>
        <p:txBody>
          <a:bodyPr wrap="square" lIns="0" tIns="0" rIns="0" bIns="0" rtlCol="0" anchor="t"/>
          <a:lstStyle/>
          <a:p>
            <a:pPr algn="l" indent="0" marL="0">
              <a:buNone/>
            </a:pPr>
            <a:r>
              <a:rPr lang="en-US" sz="2000" b="1" dirty="0">
                <a:solidFill>
                  <a:srgbClr val="B9917C"/>
                </a:solidFill>
                <a:latin typeface="Cairo" pitchFamily="34" charset="0"/>
                <a:ea typeface="Cairo" pitchFamily="34" charset="-122"/>
                <a:cs typeface="Cairo" pitchFamily="34" charset="-120"/>
              </a:rPr>
              <a:t>02</a:t>
            </a:r>
            <a:endParaRPr lang="en-US" sz="2000" dirty="0"/>
          </a:p>
        </p:txBody>
      </p:sp>
      <p:sp>
        <p:nvSpPr>
          <p:cNvPr id="8" name="Text 5"/>
          <p:cNvSpPr/>
          <p:nvPr/>
        </p:nvSpPr>
        <p:spPr>
          <a:xfrm>
            <a:off x="1600200" y="3429000"/>
            <a:ext cx="9692640" cy="1737360"/>
          </a:xfrm>
          <a:prstGeom prst="rect">
            <a:avLst/>
          </a:prstGeom>
          <a:noFill/>
          <a:ln/>
        </p:spPr>
        <p:txBody>
          <a:bodyPr wrap="square" lIns="0" tIns="0" rIns="0" bIns="0" rtlCol="0" anchor="t"/>
          <a:lstStyle/>
          <a:p>
            <a:pPr algn="l" indent="0" marL="0">
              <a:lnSpc>
                <a:spcPts val="2400"/>
              </a:lnSpc>
              <a:buNone/>
            </a:pPr>
            <a:r>
              <a:rPr lang="en-US" sz="1800" b="1" dirty="0">
                <a:solidFill>
                  <a:srgbClr val="FDFAF7"/>
                </a:solidFill>
                <a:latin typeface="Cairo" pitchFamily="34" charset="0"/>
                <a:ea typeface="Cairo" pitchFamily="34" charset="-122"/>
                <a:cs typeface="Cairo" pitchFamily="34" charset="-120"/>
              </a:rPr>
              <a:t>¿Cómo deberíamos conmemorar hechos como el desastre de Annual, reconociendo su impacto sobre la población del Rif y de España?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i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i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2026-07-24T10:04:13Z</dcterms:created>
  <dcterms:modified xsi:type="dcterms:W3CDTF">2026-07-24T10:04:13Z</dcterms:modified>
</cp:coreProperties>
</file>